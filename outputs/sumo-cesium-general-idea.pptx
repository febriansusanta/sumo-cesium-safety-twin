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2642A7B-F348-4A75-9976-D21A4A6E3AD0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22BCD3"/>
                </a:solidFill>
              </a:defRPr>
            </a:pPr>
            <a:r>
              <a:rPr sz="1350" b="1">
                <a:solidFill>
                  <a:srgbClr val="22BCD3"/>
                </a:solidFill>
              </a:rPr>
              <a:t>Local traffic-safety digital twin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676758-965B-4108-9F0B-A92F5C76C1F4}"/>
              </a:ext>
            </a:extLst>
          </p:cNvPr>
          <p:cNvSpPr>
            <a:spLocks noGrp="1"/>
          </p:cNvSpPr>
          <p:nvPr/>
        </p:nvSpPr>
        <p:spPr>
          <a:xfrm>
            <a:off x="400050" y="1123950"/>
            <a:ext cx="5905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SUMO-Cesium</a:t>
            </a:r>
          </a:p>
          <a:p>
            <a:pPr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traffic-safety digital twin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01E07B-0EDF-4633-A616-205247C0DD66}"/>
              </a:ext>
            </a:extLst>
          </p:cNvPr>
          <p:cNvSpPr>
            <a:spLocks noGrp="1"/>
          </p:cNvSpPr>
          <p:nvPr/>
        </p:nvSpPr>
        <p:spPr>
          <a:xfrm>
            <a:off x="400050" y="3333750"/>
            <a:ext cx="547687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>
                <a:solidFill>
                  <a:srgbClr val="555555"/>
                </a:solidFill>
              </a:defRPr>
            </a:pPr>
            <a:r>
              <a:rPr sz="1875">
                <a:solidFill>
                  <a:srgbClr val="555555"/>
                </a:solidFill>
              </a:rPr>
              <a:t>A local prototype that replays SUMO traffic simulation results in an interactive CesiumJS map.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6A18E3-42C7-4C60-9C63-5C547A001866}"/>
              </a:ext>
            </a:extLst>
          </p:cNvPr>
          <p:cNvSpPr>
            <a:spLocks noGrp="1"/>
          </p:cNvSpPr>
          <p:nvPr/>
        </p:nvSpPr>
        <p:spPr>
          <a:xfrm>
            <a:off x="6610350" y="876300"/>
            <a:ext cx="5181600" cy="41719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D7B73E-7789-41E5-8093-72A272D1ED49}"/>
              </a:ext>
            </a:extLst>
          </p:cNvPr>
          <p:cNvSpPr>
            <a:spLocks noGrp="1"/>
          </p:cNvSpPr>
          <p:nvPr/>
        </p:nvSpPr>
        <p:spPr>
          <a:xfrm>
            <a:off x="7000875" y="1809750"/>
            <a:ext cx="4000500" cy="19050"/>
          </a:xfrm>
          <a:prstGeom prst="rect">
            <a:avLst/>
          </a:prstGeom>
          <a:solidFill>
            <a:srgbClr val="22BCD3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B94E8A-C3D9-41F4-A329-291D934FD7C6}"/>
              </a:ext>
            </a:extLst>
          </p:cNvPr>
          <p:cNvSpPr>
            <a:spLocks noGrp="1"/>
          </p:cNvSpPr>
          <p:nvPr/>
        </p:nvSpPr>
        <p:spPr>
          <a:xfrm>
            <a:off x="7000875" y="2476500"/>
            <a:ext cx="302895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EE8CE1-34ED-4ACD-A43B-94BD31D3500D}"/>
              </a:ext>
            </a:extLst>
          </p:cNvPr>
          <p:cNvSpPr>
            <a:spLocks noGrp="1"/>
          </p:cNvSpPr>
          <p:nvPr/>
        </p:nvSpPr>
        <p:spPr>
          <a:xfrm>
            <a:off x="7000875" y="3143250"/>
            <a:ext cx="3638550" cy="190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66792D-FE95-4970-8A49-E10E67223FDB}"/>
              </a:ext>
            </a:extLst>
          </p:cNvPr>
          <p:cNvSpPr>
            <a:spLocks noGrp="1"/>
          </p:cNvSpPr>
          <p:nvPr/>
        </p:nvSpPr>
        <p:spPr>
          <a:xfrm>
            <a:off x="7000875" y="39624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SUMO outputs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D3A599-270E-4E32-97C0-4D5355B90447}"/>
              </a:ext>
            </a:extLst>
          </p:cNvPr>
          <p:cNvSpPr>
            <a:spLocks noGrp="1"/>
          </p:cNvSpPr>
          <p:nvPr/>
        </p:nvSpPr>
        <p:spPr>
          <a:xfrm>
            <a:off x="7000875" y="4324350"/>
            <a:ext cx="3619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Network, trajectories, TTC and braking events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0F3397-1009-4210-B56B-5128134823DB}"/>
              </a:ext>
            </a:extLst>
          </p:cNvPr>
          <p:cNvSpPr>
            <a:spLocks noGrp="1"/>
          </p:cNvSpPr>
          <p:nvPr/>
        </p:nvSpPr>
        <p:spPr>
          <a:xfrm>
            <a:off x="400050" y="5467350"/>
            <a:ext cx="3619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CesiumJS dashboard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FED99D-25B0-47C1-A964-DBA7E972751F}"/>
              </a:ext>
            </a:extLst>
          </p:cNvPr>
          <p:cNvSpPr>
            <a:spLocks noGrp="1"/>
          </p:cNvSpPr>
          <p:nvPr/>
        </p:nvSpPr>
        <p:spPr>
          <a:xfrm>
            <a:off x="400050" y="5857875"/>
            <a:ext cx="514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Localhost first. No Docker. No private Cesium token.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AD887C-2A05-4563-8333-A54312AE99D7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Local SUMO data: Data/Nanke/project/High precision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B44434-A615-4C7A-9415-64531E2A8A5F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69126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776D2DC-DDAA-4B8E-B5E8-E722BFB3C4B8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68580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idea is to make simulation results spatial and inspectable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4F43C7-1B29-4442-B6CD-92C31DF2D884}"/>
              </a:ext>
            </a:extLst>
          </p:cNvPr>
          <p:cNvSpPr>
            <a:spLocks noGrp="1"/>
          </p:cNvSpPr>
          <p:nvPr/>
        </p:nvSpPr>
        <p:spPr>
          <a:xfrm>
            <a:off x="7810500" y="476250"/>
            <a:ext cx="39814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Instead of reading XML files, users replay traffic movement on the road network and jump directly to events.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7E8E71-1166-4AFD-8E91-C2FAEEA1D6C9}"/>
              </a:ext>
            </a:extLst>
          </p:cNvPr>
          <p:cNvSpPr>
            <a:spLocks noGrp="1"/>
          </p:cNvSpPr>
          <p:nvPr/>
        </p:nvSpPr>
        <p:spPr>
          <a:xfrm>
            <a:off x="409575" y="2381250"/>
            <a:ext cx="3476625" cy="14668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F6BABD-FA88-47A9-B049-0DB677473091}"/>
              </a:ext>
            </a:extLst>
          </p:cNvPr>
          <p:cNvSpPr>
            <a:spLocks noGrp="1"/>
          </p:cNvSpPr>
          <p:nvPr/>
        </p:nvSpPr>
        <p:spPr>
          <a:xfrm>
            <a:off x="676275" y="2628900"/>
            <a:ext cx="29432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SUMO produces the run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A133EA-62C5-4505-BF23-95D128324130}"/>
              </a:ext>
            </a:extLst>
          </p:cNvPr>
          <p:cNvSpPr>
            <a:spLocks noGrp="1"/>
          </p:cNvSpPr>
          <p:nvPr/>
        </p:nvSpPr>
        <p:spPr>
          <a:xfrm>
            <a:off x="676275" y="3067050"/>
            <a:ext cx="29432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Vehicle movement, routes, collisions, trip information and SSM safety measures.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68CE1F-4900-45E2-A98F-96E0D88AEE3D}"/>
              </a:ext>
            </a:extLst>
          </p:cNvPr>
          <p:cNvSpPr>
            <a:spLocks noGrp="1"/>
          </p:cNvSpPr>
          <p:nvPr/>
        </p:nvSpPr>
        <p:spPr>
          <a:xfrm>
            <a:off x="4362450" y="2381250"/>
            <a:ext cx="3476625" cy="14668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E29100-4094-423F-B184-BA58A3FDB597}"/>
              </a:ext>
            </a:extLst>
          </p:cNvPr>
          <p:cNvSpPr>
            <a:spLocks noGrp="1"/>
          </p:cNvSpPr>
          <p:nvPr/>
        </p:nvSpPr>
        <p:spPr>
          <a:xfrm>
            <a:off x="4629150" y="2628900"/>
            <a:ext cx="29432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The API prepares results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169555-B2A4-45A7-BB0D-8B5CD233E711}"/>
              </a:ext>
            </a:extLst>
          </p:cNvPr>
          <p:cNvSpPr>
            <a:spLocks noGrp="1"/>
          </p:cNvSpPr>
          <p:nvPr/>
        </p:nvSpPr>
        <p:spPr>
          <a:xfrm>
            <a:off x="4629150" y="3067050"/>
            <a:ext cx="29432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Local coordinates are converted to WGS84 and served as compact JSON.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6258A8-E69A-41BE-8FAE-C2A29F381956}"/>
              </a:ext>
            </a:extLst>
          </p:cNvPr>
          <p:cNvSpPr>
            <a:spLocks noGrp="1"/>
          </p:cNvSpPr>
          <p:nvPr/>
        </p:nvSpPr>
        <p:spPr>
          <a:xfrm>
            <a:off x="8315325" y="2381250"/>
            <a:ext cx="3476625" cy="14668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CE7360-973F-41AB-9D07-EB552AF173B0}"/>
              </a:ext>
            </a:extLst>
          </p:cNvPr>
          <p:cNvSpPr>
            <a:spLocks noGrp="1"/>
          </p:cNvSpPr>
          <p:nvPr/>
        </p:nvSpPr>
        <p:spPr>
          <a:xfrm>
            <a:off x="8582025" y="2628900"/>
            <a:ext cx="29432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Cesium makes it visible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F48338-A0A2-4D0F-AAF8-38DC95577981}"/>
              </a:ext>
            </a:extLst>
          </p:cNvPr>
          <p:cNvSpPr>
            <a:spLocks noGrp="1"/>
          </p:cNvSpPr>
          <p:nvPr/>
        </p:nvSpPr>
        <p:spPr>
          <a:xfrm>
            <a:off x="8582025" y="3067050"/>
            <a:ext cx="29432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Vehicles, roads, TTC markers, charts and event tables are synchronized.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F480FF-3567-4824-8DBE-0FA26C7E2ADD}"/>
              </a:ext>
            </a:extLst>
          </p:cNvPr>
          <p:cNvSpPr>
            <a:spLocks noGrp="1"/>
          </p:cNvSpPr>
          <p:nvPr/>
        </p:nvSpPr>
        <p:spPr>
          <a:xfrm>
            <a:off x="857250" y="4914900"/>
            <a:ext cx="1047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The value is not visual realism. The value is faster inspection of where and when simulated risk appears.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FE1679-DAB2-43E4-9F14-447A0D5A3C3E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Local SUMO data: Data/Nanke/project/High precision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FC01EC-0464-4A5B-8A68-5A029CDF45F2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32285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9A8F0151-27C9-49F0-930F-8F1B0CF08243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68580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Your Data folder is now one input to the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01BF5A-2089-49CC-A701-1A102648563F}"/>
              </a:ext>
            </a:extLst>
          </p:cNvPr>
          <p:cNvSpPr>
            <a:spLocks noGrp="1"/>
          </p:cNvSpPr>
          <p:nvPr/>
        </p:nvSpPr>
        <p:spPr>
          <a:xfrm>
            <a:off x="7810500" y="476250"/>
            <a:ext cx="39814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The current prototype can load already-generated SUMO outputs, so the dashboard uses your Nanke project data.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9E0169-6E68-40AA-A596-F38E0F199E27}"/>
              </a:ext>
            </a:extLst>
          </p:cNvPr>
          <p:cNvSpPr>
            <a:spLocks noGrp="1"/>
          </p:cNvSpPr>
          <p:nvPr/>
        </p:nvSpPr>
        <p:spPr>
          <a:xfrm>
            <a:off x="409575" y="2114550"/>
            <a:ext cx="2152650" cy="242887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B04F14-15F4-4474-851A-D40E25A769DE}"/>
              </a:ext>
            </a:extLst>
          </p:cNvPr>
          <p:cNvSpPr>
            <a:spLocks noGrp="1"/>
          </p:cNvSpPr>
          <p:nvPr/>
        </p:nvSpPr>
        <p:spPr>
          <a:xfrm>
            <a:off x="619125" y="230505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FF6B35"/>
                </a:solidFill>
              </a:defRPr>
            </a:pPr>
            <a:r>
              <a:rPr sz="285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773F8E-8F2E-498E-A84F-3BFE9598D91E}"/>
              </a:ext>
            </a:extLst>
          </p:cNvPr>
          <p:cNvSpPr>
            <a:spLocks noGrp="1"/>
          </p:cNvSpPr>
          <p:nvPr/>
        </p:nvSpPr>
        <p:spPr>
          <a:xfrm>
            <a:off x="619125" y="2952750"/>
            <a:ext cx="17335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Local Data folder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797C67-8138-42C7-84AE-03C97E9E7137}"/>
              </a:ext>
            </a:extLst>
          </p:cNvPr>
          <p:cNvSpPr>
            <a:spLocks noGrp="1"/>
          </p:cNvSpPr>
          <p:nvPr/>
        </p:nvSpPr>
        <p:spPr>
          <a:xfrm>
            <a:off x="619125" y="3686175"/>
            <a:ext cx="17335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Network, route, FCD, SSM, collisions and tripinfo files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7007D8-271B-4F9A-A7DC-682E1E16A5C8}"/>
              </a:ext>
            </a:extLst>
          </p:cNvPr>
          <p:cNvSpPr>
            <a:spLocks noGrp="1"/>
          </p:cNvSpPr>
          <p:nvPr/>
        </p:nvSpPr>
        <p:spPr>
          <a:xfrm>
            <a:off x="2581275" y="3048000"/>
            <a:ext cx="238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555555"/>
                </a:solidFill>
              </a:defRPr>
            </a:pPr>
            <a:r>
              <a:rPr sz="2100" b="1">
                <a:solidFill>
                  <a:srgbClr val="555555"/>
                </a:solidFill>
              </a:rPr>
              <a:t>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1E002A-EF1F-409C-A8C0-E417E4F3FE3E}"/>
              </a:ext>
            </a:extLst>
          </p:cNvPr>
          <p:cNvSpPr>
            <a:spLocks noGrp="1"/>
          </p:cNvSpPr>
          <p:nvPr/>
        </p:nvSpPr>
        <p:spPr>
          <a:xfrm>
            <a:off x="2705100" y="2114550"/>
            <a:ext cx="2152650" cy="242887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A24780-2F94-43F6-900F-03C8FA75818C}"/>
              </a:ext>
            </a:extLst>
          </p:cNvPr>
          <p:cNvSpPr>
            <a:spLocks noGrp="1"/>
          </p:cNvSpPr>
          <p:nvPr/>
        </p:nvSpPr>
        <p:spPr>
          <a:xfrm>
            <a:off x="2914650" y="230505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B62970-5C24-4D15-BDF7-BAD9BE0933E8}"/>
              </a:ext>
            </a:extLst>
          </p:cNvPr>
          <p:cNvSpPr>
            <a:spLocks noGrp="1"/>
          </p:cNvSpPr>
          <p:nvPr/>
        </p:nvSpPr>
        <p:spPr>
          <a:xfrm>
            <a:off x="2914650" y="2952750"/>
            <a:ext cx="17335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Coordinate conversion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7D1342-9F21-4C61-AA36-0389A9A55496}"/>
              </a:ext>
            </a:extLst>
          </p:cNvPr>
          <p:cNvSpPr>
            <a:spLocks noGrp="1"/>
          </p:cNvSpPr>
          <p:nvPr/>
        </p:nvSpPr>
        <p:spPr>
          <a:xfrm>
            <a:off x="2914650" y="3686175"/>
            <a:ext cx="17335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SUMO projection metadata is used to convert x/y into lon/lat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52351E-1AF8-4FC4-9496-0DFC4DBA95E0}"/>
              </a:ext>
            </a:extLst>
          </p:cNvPr>
          <p:cNvSpPr>
            <a:spLocks noGrp="1"/>
          </p:cNvSpPr>
          <p:nvPr/>
        </p:nvSpPr>
        <p:spPr>
          <a:xfrm>
            <a:off x="4876800" y="3048000"/>
            <a:ext cx="238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555555"/>
                </a:solidFill>
              </a:defRPr>
            </a:pPr>
            <a:r>
              <a:rPr sz="2100" b="1">
                <a:solidFill>
                  <a:srgbClr val="555555"/>
                </a:solidFill>
              </a:rPr>
              <a:t>&gt;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B49237-7F2C-428F-A601-81D712146A96}"/>
              </a:ext>
            </a:extLst>
          </p:cNvPr>
          <p:cNvSpPr>
            <a:spLocks noGrp="1"/>
          </p:cNvSpPr>
          <p:nvPr/>
        </p:nvSpPr>
        <p:spPr>
          <a:xfrm>
            <a:off x="5000625" y="2114550"/>
            <a:ext cx="2152650" cy="242887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216682-7CA5-4175-93B3-1DAECC6A532E}"/>
              </a:ext>
            </a:extLst>
          </p:cNvPr>
          <p:cNvSpPr>
            <a:spLocks noGrp="1"/>
          </p:cNvSpPr>
          <p:nvPr/>
        </p:nvSpPr>
        <p:spPr>
          <a:xfrm>
            <a:off x="5210175" y="230505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86BE27-A5F0-4FD8-BFB1-EE6D294B9B56}"/>
              </a:ext>
            </a:extLst>
          </p:cNvPr>
          <p:cNvSpPr>
            <a:spLocks noGrp="1"/>
          </p:cNvSpPr>
          <p:nvPr/>
        </p:nvSpPr>
        <p:spPr>
          <a:xfrm>
            <a:off x="5210175" y="2952750"/>
            <a:ext cx="17335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Result import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2DC2BF-E0EB-4A34-B867-8E610841E4B6}"/>
              </a:ext>
            </a:extLst>
          </p:cNvPr>
          <p:cNvSpPr>
            <a:spLocks noGrp="1"/>
          </p:cNvSpPr>
          <p:nvPr/>
        </p:nvSpPr>
        <p:spPr>
          <a:xfrm>
            <a:off x="5210175" y="3686175"/>
            <a:ext cx="17335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Trajectories, safety events and summaries are written into run storage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D13D52-AC19-4006-A278-52460F90EF6D}"/>
              </a:ext>
            </a:extLst>
          </p:cNvPr>
          <p:cNvSpPr>
            <a:spLocks noGrp="1"/>
          </p:cNvSpPr>
          <p:nvPr/>
        </p:nvSpPr>
        <p:spPr>
          <a:xfrm>
            <a:off x="7172325" y="3048000"/>
            <a:ext cx="238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555555"/>
                </a:solidFill>
              </a:defRPr>
            </a:pPr>
            <a:r>
              <a:rPr sz="2100" b="1">
                <a:solidFill>
                  <a:srgbClr val="555555"/>
                </a:solidFill>
              </a:rPr>
              <a:t>&gt;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48AEA3-A31D-4335-9FA2-229280316846}"/>
              </a:ext>
            </a:extLst>
          </p:cNvPr>
          <p:cNvSpPr>
            <a:spLocks noGrp="1"/>
          </p:cNvSpPr>
          <p:nvPr/>
        </p:nvSpPr>
        <p:spPr>
          <a:xfrm>
            <a:off x="7296150" y="2114550"/>
            <a:ext cx="2152650" cy="242887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A06B9F-4638-4389-8594-B1B57562FA90}"/>
              </a:ext>
            </a:extLst>
          </p:cNvPr>
          <p:cNvSpPr>
            <a:spLocks noGrp="1"/>
          </p:cNvSpPr>
          <p:nvPr/>
        </p:nvSpPr>
        <p:spPr>
          <a:xfrm>
            <a:off x="7505700" y="230505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E1777D-052B-4507-B41B-844C14BABCEF}"/>
              </a:ext>
            </a:extLst>
          </p:cNvPr>
          <p:cNvSpPr>
            <a:spLocks noGrp="1"/>
          </p:cNvSpPr>
          <p:nvPr/>
        </p:nvSpPr>
        <p:spPr>
          <a:xfrm>
            <a:off x="7505700" y="2952750"/>
            <a:ext cx="17335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FastAPI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2029BD-232E-49C5-94A0-67B534F554D9}"/>
              </a:ext>
            </a:extLst>
          </p:cNvPr>
          <p:cNvSpPr>
            <a:spLocks noGrp="1"/>
          </p:cNvSpPr>
          <p:nvPr/>
        </p:nvSpPr>
        <p:spPr>
          <a:xfrm>
            <a:off x="7505700" y="3686175"/>
            <a:ext cx="17335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The browser receives JSON rather than raw SUMO XML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866EF3-4E9B-4DCD-836E-5CE279294B64}"/>
              </a:ext>
            </a:extLst>
          </p:cNvPr>
          <p:cNvSpPr>
            <a:spLocks noGrp="1"/>
          </p:cNvSpPr>
          <p:nvPr/>
        </p:nvSpPr>
        <p:spPr>
          <a:xfrm>
            <a:off x="9467850" y="3048000"/>
            <a:ext cx="238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555555"/>
                </a:solidFill>
              </a:defRPr>
            </a:pPr>
            <a:r>
              <a:rPr sz="2100" b="1">
                <a:solidFill>
                  <a:srgbClr val="555555"/>
                </a:solidFill>
              </a:rPr>
              <a:t>&gt;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17AB3A-322E-4EDA-8224-7AD232BE4986}"/>
              </a:ext>
            </a:extLst>
          </p:cNvPr>
          <p:cNvSpPr>
            <a:spLocks noGrp="1"/>
          </p:cNvSpPr>
          <p:nvPr/>
        </p:nvSpPr>
        <p:spPr>
          <a:xfrm>
            <a:off x="9591675" y="2114550"/>
            <a:ext cx="2152650" cy="242887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00AABE-E654-4DE2-8EF4-E42A2AD3805D}"/>
              </a:ext>
            </a:extLst>
          </p:cNvPr>
          <p:cNvSpPr>
            <a:spLocks noGrp="1"/>
          </p:cNvSpPr>
          <p:nvPr/>
        </p:nvSpPr>
        <p:spPr>
          <a:xfrm>
            <a:off x="9801225" y="230505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15DDD12-8289-4E02-B492-8BD13D04189E}"/>
              </a:ext>
            </a:extLst>
          </p:cNvPr>
          <p:cNvSpPr>
            <a:spLocks noGrp="1"/>
          </p:cNvSpPr>
          <p:nvPr/>
        </p:nvSpPr>
        <p:spPr>
          <a:xfrm>
            <a:off x="9801225" y="2952750"/>
            <a:ext cx="17335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Cesium playback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E7A4160-7B4C-4965-AA64-EEDFCC8215E1}"/>
              </a:ext>
            </a:extLst>
          </p:cNvPr>
          <p:cNvSpPr>
            <a:spLocks noGrp="1"/>
          </p:cNvSpPr>
          <p:nvPr/>
        </p:nvSpPr>
        <p:spPr>
          <a:xfrm>
            <a:off x="9801225" y="3686175"/>
            <a:ext cx="17335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Vehicles and safety markers are replayed in the map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8AFA1D1-A7EE-40D4-B8A0-32CCD5894439}"/>
              </a:ext>
            </a:extLst>
          </p:cNvPr>
          <p:cNvSpPr>
            <a:spLocks noGrp="1"/>
          </p:cNvSpPr>
          <p:nvPr/>
        </p:nvSpPr>
        <p:spPr>
          <a:xfrm>
            <a:off x="409575" y="5048250"/>
            <a:ext cx="666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Imported dataset: Data/Nanke/project/High precision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6B4DFA2-E71E-4CF2-9A08-949EDFD7CBFC}"/>
              </a:ext>
            </a:extLst>
          </p:cNvPr>
          <p:cNvSpPr>
            <a:spLocks noGrp="1"/>
          </p:cNvSpPr>
          <p:nvPr/>
        </p:nvSpPr>
        <p:spPr>
          <a:xfrm>
            <a:off x="409575" y="541020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The original Chinese folder name is kept in the app as Nanke / project / 高精.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734334-D2C4-4846-BA11-A22B935D453B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Local SUMO data: Data/Nanke/project/High precision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986343E-B2B9-45B2-91DA-DCD062B9E3D7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29941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78B84A-C671-4D68-A7B8-7EC132C60074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68580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dashboard combines scenario setup, Cesium playback and event review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FF1B5D-DC44-4C62-AC3E-97798DC7E602}"/>
              </a:ext>
            </a:extLst>
          </p:cNvPr>
          <p:cNvSpPr>
            <a:spLocks noGrp="1"/>
          </p:cNvSpPr>
          <p:nvPr/>
        </p:nvSpPr>
        <p:spPr>
          <a:xfrm>
            <a:off x="7810500" y="476250"/>
            <a:ext cx="39814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This live capture shows the imported Nanke run loaded from the local Data folder.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rcRect l="26" r="26"/>
          <a:stretch>
            <a:fillRect/>
          </a:stretch>
        </p:blipFill>
        <p:spPr>
          <a:xfrm>
            <a:off x="409575" y="1714500"/>
            <a:ext cx="8191500" cy="46101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2F07520-C81F-409D-9316-F4D20A813311}"/>
              </a:ext>
            </a:extLst>
          </p:cNvPr>
          <p:cNvSpPr>
            <a:spLocks noGrp="1"/>
          </p:cNvSpPr>
          <p:nvPr/>
        </p:nvSpPr>
        <p:spPr>
          <a:xfrm>
            <a:off x="8953500" y="1752600"/>
            <a:ext cx="2838450" cy="9144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C6F2B3-82B3-43C4-9B7A-BCC3B6748B65}"/>
              </a:ext>
            </a:extLst>
          </p:cNvPr>
          <p:cNvSpPr>
            <a:spLocks noGrp="1"/>
          </p:cNvSpPr>
          <p:nvPr/>
        </p:nvSpPr>
        <p:spPr>
          <a:xfrm>
            <a:off x="9163050" y="1924050"/>
            <a:ext cx="2419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22BCD3"/>
                </a:solidFill>
              </a:defRPr>
            </a:pPr>
            <a:r>
              <a:rPr sz="1650" b="1">
                <a:solidFill>
                  <a:srgbClr val="22BCD3"/>
                </a:solidFill>
              </a:rPr>
              <a:t>Scenario setup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C5D407-2118-4439-A5A1-A30999BFC25A}"/>
              </a:ext>
            </a:extLst>
          </p:cNvPr>
          <p:cNvSpPr>
            <a:spLocks noGrp="1"/>
          </p:cNvSpPr>
          <p:nvPr/>
        </p:nvSpPr>
        <p:spPr>
          <a:xfrm>
            <a:off x="9163050" y="2247900"/>
            <a:ext cx="2419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Controls the next run or documents the imported run.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6C968F-F73B-4F59-83BA-55B7418629C4}"/>
              </a:ext>
            </a:extLst>
          </p:cNvPr>
          <p:cNvSpPr>
            <a:spLocks noGrp="1"/>
          </p:cNvSpPr>
          <p:nvPr/>
        </p:nvSpPr>
        <p:spPr>
          <a:xfrm>
            <a:off x="8953500" y="2800350"/>
            <a:ext cx="2838450" cy="9144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405BA3-7AF3-4C81-938E-418E4D9D4148}"/>
              </a:ext>
            </a:extLst>
          </p:cNvPr>
          <p:cNvSpPr>
            <a:spLocks noGrp="1"/>
          </p:cNvSpPr>
          <p:nvPr/>
        </p:nvSpPr>
        <p:spPr>
          <a:xfrm>
            <a:off x="9163050" y="2971800"/>
            <a:ext cx="2419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Map view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DF70AB-62DD-4BC2-A0F0-1843BC9F5A39}"/>
              </a:ext>
            </a:extLst>
          </p:cNvPr>
          <p:cNvSpPr>
            <a:spLocks noGrp="1"/>
          </p:cNvSpPr>
          <p:nvPr/>
        </p:nvSpPr>
        <p:spPr>
          <a:xfrm>
            <a:off x="9163050" y="3295650"/>
            <a:ext cx="2419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Shows roads, moving vehicles, event markers and basemap.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E01091-D4C1-4383-B0AE-B65284958678}"/>
              </a:ext>
            </a:extLst>
          </p:cNvPr>
          <p:cNvSpPr>
            <a:spLocks noGrp="1"/>
          </p:cNvSpPr>
          <p:nvPr/>
        </p:nvSpPr>
        <p:spPr>
          <a:xfrm>
            <a:off x="8953500" y="3848100"/>
            <a:ext cx="2838450" cy="9144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AADB47-BFA4-4E23-A87B-CC779DABE775}"/>
              </a:ext>
            </a:extLst>
          </p:cNvPr>
          <p:cNvSpPr>
            <a:spLocks noGrp="1"/>
          </p:cNvSpPr>
          <p:nvPr/>
        </p:nvSpPr>
        <p:spPr>
          <a:xfrm>
            <a:off x="9163050" y="4019550"/>
            <a:ext cx="2419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Playback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51D40D-5AE0-420B-9CA2-766966560078}"/>
              </a:ext>
            </a:extLst>
          </p:cNvPr>
          <p:cNvSpPr>
            <a:spLocks noGrp="1"/>
          </p:cNvSpPr>
          <p:nvPr/>
        </p:nvSpPr>
        <p:spPr>
          <a:xfrm>
            <a:off x="9163050" y="4343400"/>
            <a:ext cx="2419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Plays, pauses, scrubs and changes replay speed.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E75757-5529-49F6-A9C7-1E323C3F69C1}"/>
              </a:ext>
            </a:extLst>
          </p:cNvPr>
          <p:cNvSpPr>
            <a:spLocks noGrp="1"/>
          </p:cNvSpPr>
          <p:nvPr/>
        </p:nvSpPr>
        <p:spPr>
          <a:xfrm>
            <a:off x="8953500" y="4895850"/>
            <a:ext cx="2838450" cy="9144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FB89E3-314C-4D01-9205-713D2ECE9D8D}"/>
              </a:ext>
            </a:extLst>
          </p:cNvPr>
          <p:cNvSpPr>
            <a:spLocks noGrp="1"/>
          </p:cNvSpPr>
          <p:nvPr/>
        </p:nvSpPr>
        <p:spPr>
          <a:xfrm>
            <a:off x="9163050" y="5067300"/>
            <a:ext cx="2419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F5A4F"/>
                </a:solidFill>
              </a:defRPr>
            </a:pPr>
            <a:r>
              <a:rPr sz="1650" b="1">
                <a:solidFill>
                  <a:srgbClr val="FF5A4F"/>
                </a:solidFill>
              </a:rPr>
              <a:t>Results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3D492B-1810-48BA-B98D-89DB3527D2D2}"/>
              </a:ext>
            </a:extLst>
          </p:cNvPr>
          <p:cNvSpPr>
            <a:spLocks noGrp="1"/>
          </p:cNvSpPr>
          <p:nvPr/>
        </p:nvSpPr>
        <p:spPr>
          <a:xfrm>
            <a:off x="9163050" y="5391150"/>
            <a:ext cx="2419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Summarizes TTC, braking, collisions and event details.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7724E0-D5E0-4DF9-A55E-0862EA00B586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Local SUMO data: Data/Nanke/project/High precision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C42963-103D-4958-BDFD-04C151A2BA2D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55375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A7BABD80-2BD9-4233-BFFA-235044D90385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68580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Each dashboard menu has a specific review function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76B476-57E7-4853-9107-FE8F82AFE3CC}"/>
              </a:ext>
            </a:extLst>
          </p:cNvPr>
          <p:cNvSpPr>
            <a:spLocks noGrp="1"/>
          </p:cNvSpPr>
          <p:nvPr/>
        </p:nvSpPr>
        <p:spPr>
          <a:xfrm>
            <a:off x="7810500" y="476250"/>
            <a:ext cx="39814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The menu guide helps non-technical viewers understand what each control is for.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0611D3-A7C8-4323-974C-A803EEDBA7B2}"/>
              </a:ext>
            </a:extLst>
          </p:cNvPr>
          <p:cNvSpPr>
            <a:spLocks noGrp="1"/>
          </p:cNvSpPr>
          <p:nvPr/>
        </p:nvSpPr>
        <p:spPr>
          <a:xfrm>
            <a:off x="409575" y="1847850"/>
            <a:ext cx="5381625" cy="9144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6733EB-1907-4259-A3FE-A11A12526945}"/>
              </a:ext>
            </a:extLst>
          </p:cNvPr>
          <p:cNvSpPr>
            <a:spLocks noGrp="1"/>
          </p:cNvSpPr>
          <p:nvPr/>
        </p:nvSpPr>
        <p:spPr>
          <a:xfrm>
            <a:off x="619125" y="2019300"/>
            <a:ext cx="49625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22BCD3"/>
                </a:solidFill>
              </a:defRPr>
            </a:pPr>
            <a:r>
              <a:rPr sz="1650" b="1">
                <a:solidFill>
                  <a:srgbClr val="22BCD3"/>
                </a:solidFill>
              </a:rPr>
              <a:t>Scenario panel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7C6A0E-4E07-48B0-B5C6-B41D79A63917}"/>
              </a:ext>
            </a:extLst>
          </p:cNvPr>
          <p:cNvSpPr>
            <a:spLocks noGrp="1"/>
          </p:cNvSpPr>
          <p:nvPr/>
        </p:nvSpPr>
        <p:spPr>
          <a:xfrm>
            <a:off x="619125" y="2343150"/>
            <a:ext cx="49625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Select preset, duration, seed, demand, trip period and TTC thresholds.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A571A8-A89B-47B8-A9EF-A7870E6EDD4B}"/>
              </a:ext>
            </a:extLst>
          </p:cNvPr>
          <p:cNvSpPr>
            <a:spLocks noGrp="1"/>
          </p:cNvSpPr>
          <p:nvPr/>
        </p:nvSpPr>
        <p:spPr>
          <a:xfrm>
            <a:off x="409575" y="2895600"/>
            <a:ext cx="5381625" cy="9144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A834CB-84BC-4363-8AAE-5E2B1A45C4FC}"/>
              </a:ext>
            </a:extLst>
          </p:cNvPr>
          <p:cNvSpPr>
            <a:spLocks noGrp="1"/>
          </p:cNvSpPr>
          <p:nvPr/>
        </p:nvSpPr>
        <p:spPr>
          <a:xfrm>
            <a:off x="619125" y="3067050"/>
            <a:ext cx="49625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Advanced behavioural assumptions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08FE41-47A8-477F-B501-87988A12802B}"/>
              </a:ext>
            </a:extLst>
          </p:cNvPr>
          <p:cNvSpPr>
            <a:spLocks noGrp="1"/>
          </p:cNvSpPr>
          <p:nvPr/>
        </p:nvSpPr>
        <p:spPr>
          <a:xfrm>
            <a:off x="619125" y="3390900"/>
            <a:ext cx="49625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Adjust car-following assumptions such as tau, decel, emergency decel and step length.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171B5A-9DFD-4443-B7B9-4988F62444C0}"/>
              </a:ext>
            </a:extLst>
          </p:cNvPr>
          <p:cNvSpPr>
            <a:spLocks noGrp="1"/>
          </p:cNvSpPr>
          <p:nvPr/>
        </p:nvSpPr>
        <p:spPr>
          <a:xfrm>
            <a:off x="409575" y="3943350"/>
            <a:ext cx="5381625" cy="9144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AEB99A-789C-4D65-9FD5-480F7C782716}"/>
              </a:ext>
            </a:extLst>
          </p:cNvPr>
          <p:cNvSpPr>
            <a:spLocks noGrp="1"/>
          </p:cNvSpPr>
          <p:nvPr/>
        </p:nvSpPr>
        <p:spPr>
          <a:xfrm>
            <a:off x="619125" y="4114800"/>
            <a:ext cx="49625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Reset, validate and run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25D4FD-1C9B-4F9F-9BF5-D0D6891C8DC3}"/>
              </a:ext>
            </a:extLst>
          </p:cNvPr>
          <p:cNvSpPr>
            <a:spLocks noGrp="1"/>
          </p:cNvSpPr>
          <p:nvPr/>
        </p:nvSpPr>
        <p:spPr>
          <a:xfrm>
            <a:off x="619125" y="4438650"/>
            <a:ext cx="49625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Reset values, check whether inputs are valid, then create a new SUMO simulation run.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FE92DE-8DDF-41B0-8FA5-A2ACE2ACF687}"/>
              </a:ext>
            </a:extLst>
          </p:cNvPr>
          <p:cNvSpPr>
            <a:spLocks noGrp="1"/>
          </p:cNvSpPr>
          <p:nvPr/>
        </p:nvSpPr>
        <p:spPr>
          <a:xfrm>
            <a:off x="409575" y="4991100"/>
            <a:ext cx="5381625" cy="9144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ED0DE-875A-4E48-A235-2094B310C066}"/>
              </a:ext>
            </a:extLst>
          </p:cNvPr>
          <p:cNvSpPr>
            <a:spLocks noGrp="1"/>
          </p:cNvSpPr>
          <p:nvPr/>
        </p:nvSpPr>
        <p:spPr>
          <a:xfrm>
            <a:off x="619125" y="5162550"/>
            <a:ext cx="49625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Load demo run and Load Data folder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67FCB3-156F-44F0-8B6A-816EF1AD2741}"/>
              </a:ext>
            </a:extLst>
          </p:cNvPr>
          <p:cNvSpPr>
            <a:spLocks noGrp="1"/>
          </p:cNvSpPr>
          <p:nvPr/>
        </p:nvSpPr>
        <p:spPr>
          <a:xfrm>
            <a:off x="619125" y="5486400"/>
            <a:ext cx="49625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Open prepared runs or import the local Data folder outputs for replay.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F2A1A1-EDAC-474E-A9E6-C01F2457D851}"/>
              </a:ext>
            </a:extLst>
          </p:cNvPr>
          <p:cNvSpPr>
            <a:spLocks noGrp="1"/>
          </p:cNvSpPr>
          <p:nvPr/>
        </p:nvSpPr>
        <p:spPr>
          <a:xfrm>
            <a:off x="6410325" y="1847850"/>
            <a:ext cx="5381625" cy="9144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A8D529-C77F-432B-A380-1F522777351B}"/>
              </a:ext>
            </a:extLst>
          </p:cNvPr>
          <p:cNvSpPr>
            <a:spLocks noGrp="1"/>
          </p:cNvSpPr>
          <p:nvPr/>
        </p:nvSpPr>
        <p:spPr>
          <a:xfrm>
            <a:off x="6619875" y="2019300"/>
            <a:ext cx="49625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22BCD3"/>
                </a:solidFill>
              </a:defRPr>
            </a:pPr>
            <a:r>
              <a:rPr sz="1650" b="1">
                <a:solidFill>
                  <a:srgbClr val="22BCD3"/>
                </a:solidFill>
              </a:rPr>
              <a:t>Layers and basemap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1EF4F1-B78B-44DD-99BD-87F7D7E34022}"/>
              </a:ext>
            </a:extLst>
          </p:cNvPr>
          <p:cNvSpPr>
            <a:spLocks noGrp="1"/>
          </p:cNvSpPr>
          <p:nvPr/>
        </p:nvSpPr>
        <p:spPr>
          <a:xfrm>
            <a:off x="6619875" y="2343150"/>
            <a:ext cx="49625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Turn vehicles, safety events and road network on or off; switch the basemap style.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EBA216-C0A3-45F0-A4F9-CBF738F126A7}"/>
              </a:ext>
            </a:extLst>
          </p:cNvPr>
          <p:cNvSpPr>
            <a:spLocks noGrp="1"/>
          </p:cNvSpPr>
          <p:nvPr/>
        </p:nvSpPr>
        <p:spPr>
          <a:xfrm>
            <a:off x="6410325" y="2895600"/>
            <a:ext cx="5381625" cy="9144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2EE09E-4FAA-41D9-926A-E38D4F1589E7}"/>
              </a:ext>
            </a:extLst>
          </p:cNvPr>
          <p:cNvSpPr>
            <a:spLocks noGrp="1"/>
          </p:cNvSpPr>
          <p:nvPr/>
        </p:nvSpPr>
        <p:spPr>
          <a:xfrm>
            <a:off x="6619875" y="3067050"/>
            <a:ext cx="49625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Playback bar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4C671C-F00F-4521-B7DE-0FBF1F01BFD6}"/>
              </a:ext>
            </a:extLst>
          </p:cNvPr>
          <p:cNvSpPr>
            <a:spLocks noGrp="1"/>
          </p:cNvSpPr>
          <p:nvPr/>
        </p:nvSpPr>
        <p:spPr>
          <a:xfrm>
            <a:off x="6619875" y="3390900"/>
            <a:ext cx="49625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Restart, play, scrub the time slider and choose replay speed.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67E08D-D5C4-4465-A2E4-710FADC862A1}"/>
              </a:ext>
            </a:extLst>
          </p:cNvPr>
          <p:cNvSpPr>
            <a:spLocks noGrp="1"/>
          </p:cNvSpPr>
          <p:nvPr/>
        </p:nvSpPr>
        <p:spPr>
          <a:xfrm>
            <a:off x="6410325" y="3943350"/>
            <a:ext cx="5381625" cy="9144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816735-1F38-4C86-8525-C59ABAA818DA}"/>
              </a:ext>
            </a:extLst>
          </p:cNvPr>
          <p:cNvSpPr>
            <a:spLocks noGrp="1"/>
          </p:cNvSpPr>
          <p:nvPr/>
        </p:nvSpPr>
        <p:spPr>
          <a:xfrm>
            <a:off x="6619875" y="4114800"/>
            <a:ext cx="49625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F5A4F"/>
                </a:solidFill>
              </a:defRPr>
            </a:pPr>
            <a:r>
              <a:rPr sz="1650" b="1">
                <a:solidFill>
                  <a:srgbClr val="FF5A4F"/>
                </a:solidFill>
              </a:rPr>
              <a:t>Run summary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AAC87F5-FBFB-417A-ADE8-A9D615326267}"/>
              </a:ext>
            </a:extLst>
          </p:cNvPr>
          <p:cNvSpPr>
            <a:spLocks noGrp="1"/>
          </p:cNvSpPr>
          <p:nvPr/>
        </p:nvSpPr>
        <p:spPr>
          <a:xfrm>
            <a:off x="6619875" y="4438650"/>
            <a:ext cx="49625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Read completed vehicles, mean travel time, minimum TTC, braking and collisions.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3E6FC90-B423-4D1C-A804-D9D590FA8657}"/>
              </a:ext>
            </a:extLst>
          </p:cNvPr>
          <p:cNvSpPr>
            <a:spLocks noGrp="1"/>
          </p:cNvSpPr>
          <p:nvPr/>
        </p:nvSpPr>
        <p:spPr>
          <a:xfrm>
            <a:off x="6410325" y="4991100"/>
            <a:ext cx="5381625" cy="9144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F354BE-278B-4A35-AD7D-798219542C2A}"/>
              </a:ext>
            </a:extLst>
          </p:cNvPr>
          <p:cNvSpPr>
            <a:spLocks noGrp="1"/>
          </p:cNvSpPr>
          <p:nvPr/>
        </p:nvSpPr>
        <p:spPr>
          <a:xfrm>
            <a:off x="6619875" y="5162550"/>
            <a:ext cx="49625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Safety events and selected vehicle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B2218-3AC1-42F1-85C5-249E6C3432A5}"/>
              </a:ext>
            </a:extLst>
          </p:cNvPr>
          <p:cNvSpPr>
            <a:spLocks noGrp="1"/>
          </p:cNvSpPr>
          <p:nvPr/>
        </p:nvSpPr>
        <p:spPr>
          <a:xfrm>
            <a:off x="6619875" y="5486400"/>
            <a:ext cx="49625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Jump to events, locate them on the map, and inspect selected-vehicle speed and acceleration.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C6A6597-E21E-4C4D-ACB7-B2F2685BEA78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Local SUMO data: Data/Nanke/project/High precision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2230502-ABAA-40DF-BC4C-C95ADE777499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60822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BF00C5A8-AEE6-47F5-A598-4FC2AE401BD4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68580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imported Nanke run gives a concrete first playback dataset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DD95C2-32B7-4C89-B46A-E6427E527CE7}"/>
              </a:ext>
            </a:extLst>
          </p:cNvPr>
          <p:cNvSpPr>
            <a:spLocks noGrp="1"/>
          </p:cNvSpPr>
          <p:nvPr/>
        </p:nvSpPr>
        <p:spPr>
          <a:xfrm>
            <a:off x="7810500" y="476250"/>
            <a:ext cx="39814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These numbers come from the local run now loaded in the dashboard.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A1688A-70BE-4A72-AC00-25ADC5A33567}"/>
              </a:ext>
            </a:extLst>
          </p:cNvPr>
          <p:cNvSpPr>
            <a:spLocks noGrp="1"/>
          </p:cNvSpPr>
          <p:nvPr/>
        </p:nvSpPr>
        <p:spPr>
          <a:xfrm>
            <a:off x="409575" y="2057400"/>
            <a:ext cx="2095500" cy="14668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C57D06-D39C-4103-A78C-58036871E996}"/>
              </a:ext>
            </a:extLst>
          </p:cNvPr>
          <p:cNvSpPr>
            <a:spLocks noGrp="1"/>
          </p:cNvSpPr>
          <p:nvPr/>
        </p:nvSpPr>
        <p:spPr>
          <a:xfrm>
            <a:off x="638175" y="2286000"/>
            <a:ext cx="1638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900" b="1">
                <a:solidFill>
                  <a:srgbClr val="22BCD3"/>
                </a:solidFill>
              </a:defRPr>
            </a:pPr>
            <a:r>
              <a:rPr sz="3900" b="1">
                <a:solidFill>
                  <a:srgbClr val="22BCD3"/>
                </a:solidFill>
              </a:rPr>
              <a:t>1,951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4DDF2B-4697-4273-8506-DBD04927C9A5}"/>
              </a:ext>
            </a:extLst>
          </p:cNvPr>
          <p:cNvSpPr>
            <a:spLocks noGrp="1"/>
          </p:cNvSpPr>
          <p:nvPr/>
        </p:nvSpPr>
        <p:spPr>
          <a:xfrm>
            <a:off x="638175" y="2952750"/>
            <a:ext cx="1638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generated and routed vehicles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38FBE9-F3D8-469D-AD53-8CB24BF3E56B}"/>
              </a:ext>
            </a:extLst>
          </p:cNvPr>
          <p:cNvSpPr>
            <a:spLocks noGrp="1"/>
          </p:cNvSpPr>
          <p:nvPr/>
        </p:nvSpPr>
        <p:spPr>
          <a:xfrm>
            <a:off x="2743200" y="2057400"/>
            <a:ext cx="2095500" cy="14668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74138F-8536-4CB5-84A9-ABD4C39C6B94}"/>
              </a:ext>
            </a:extLst>
          </p:cNvPr>
          <p:cNvSpPr>
            <a:spLocks noGrp="1"/>
          </p:cNvSpPr>
          <p:nvPr/>
        </p:nvSpPr>
        <p:spPr>
          <a:xfrm>
            <a:off x="2971800" y="2286000"/>
            <a:ext cx="1638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900" b="1">
                <a:solidFill>
                  <a:srgbClr val="000000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319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067CF6-8DE8-42AE-AD89-DF285BA85B16}"/>
              </a:ext>
            </a:extLst>
          </p:cNvPr>
          <p:cNvSpPr>
            <a:spLocks noGrp="1"/>
          </p:cNvSpPr>
          <p:nvPr/>
        </p:nvSpPr>
        <p:spPr>
          <a:xfrm>
            <a:off x="2971800" y="2952750"/>
            <a:ext cx="1638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completed vehicles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1579F5-96F5-4401-A4FA-D1776EFB359A}"/>
              </a:ext>
            </a:extLst>
          </p:cNvPr>
          <p:cNvSpPr>
            <a:spLocks noGrp="1"/>
          </p:cNvSpPr>
          <p:nvPr/>
        </p:nvSpPr>
        <p:spPr>
          <a:xfrm>
            <a:off x="5076825" y="2057400"/>
            <a:ext cx="2095500" cy="14668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41F1BC-80F5-4E58-9818-28C74F8F0139}"/>
              </a:ext>
            </a:extLst>
          </p:cNvPr>
          <p:cNvSpPr>
            <a:spLocks noGrp="1"/>
          </p:cNvSpPr>
          <p:nvPr/>
        </p:nvSpPr>
        <p:spPr>
          <a:xfrm>
            <a:off x="5305425" y="2286000"/>
            <a:ext cx="1638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900" b="1">
                <a:solidFill>
                  <a:srgbClr val="FF6B35"/>
                </a:solidFill>
              </a:defRPr>
            </a:pPr>
            <a:r>
              <a:rPr sz="3900" b="1">
                <a:solidFill>
                  <a:srgbClr val="FF6B35"/>
                </a:solidFill>
              </a:rPr>
              <a:t>0.43 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8B1406-6F9C-4E7C-BD8A-391676933EE1}"/>
              </a:ext>
            </a:extLst>
          </p:cNvPr>
          <p:cNvSpPr>
            <a:spLocks noGrp="1"/>
          </p:cNvSpPr>
          <p:nvPr/>
        </p:nvSpPr>
        <p:spPr>
          <a:xfrm>
            <a:off x="5305425" y="2952750"/>
            <a:ext cx="1638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minimum observed TTC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E6C777-691B-4FE6-9242-D16E351B9AF1}"/>
              </a:ext>
            </a:extLst>
          </p:cNvPr>
          <p:cNvSpPr>
            <a:spLocks noGrp="1"/>
          </p:cNvSpPr>
          <p:nvPr/>
        </p:nvSpPr>
        <p:spPr>
          <a:xfrm>
            <a:off x="7410450" y="2057400"/>
            <a:ext cx="2095500" cy="14668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2A44D1-6163-402C-BD72-A836BC6F6ADB}"/>
              </a:ext>
            </a:extLst>
          </p:cNvPr>
          <p:cNvSpPr>
            <a:spLocks noGrp="1"/>
          </p:cNvSpPr>
          <p:nvPr/>
        </p:nvSpPr>
        <p:spPr>
          <a:xfrm>
            <a:off x="7639050" y="2286000"/>
            <a:ext cx="1638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900" b="1">
                <a:solidFill>
                  <a:srgbClr val="FF5A4F"/>
                </a:solidFill>
              </a:defRPr>
            </a:pPr>
            <a:r>
              <a:rPr sz="3900" b="1">
                <a:solidFill>
                  <a:srgbClr val="FF5A4F"/>
                </a:solidFill>
              </a:rPr>
              <a:t>1,219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13BCD5-0D92-4CC9-A709-4000C8F84640}"/>
              </a:ext>
            </a:extLst>
          </p:cNvPr>
          <p:cNvSpPr>
            <a:spLocks noGrp="1"/>
          </p:cNvSpPr>
          <p:nvPr/>
        </p:nvSpPr>
        <p:spPr>
          <a:xfrm>
            <a:off x="7639050" y="2952750"/>
            <a:ext cx="1638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critical TTC events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9CFBC2-17EF-4306-809E-11E8D1E69C60}"/>
              </a:ext>
            </a:extLst>
          </p:cNvPr>
          <p:cNvSpPr>
            <a:spLocks noGrp="1"/>
          </p:cNvSpPr>
          <p:nvPr/>
        </p:nvSpPr>
        <p:spPr>
          <a:xfrm>
            <a:off x="9744075" y="2057400"/>
            <a:ext cx="2047875" cy="14668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6F1CE3-E4DB-4FEF-8B90-1655C921877F}"/>
              </a:ext>
            </a:extLst>
          </p:cNvPr>
          <p:cNvSpPr>
            <a:spLocks noGrp="1"/>
          </p:cNvSpPr>
          <p:nvPr/>
        </p:nvSpPr>
        <p:spPr>
          <a:xfrm>
            <a:off x="9972675" y="2286000"/>
            <a:ext cx="15906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900" b="1">
                <a:solidFill>
                  <a:srgbClr val="000000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255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1233D1-A85B-470B-9220-B0E1E41672BA}"/>
              </a:ext>
            </a:extLst>
          </p:cNvPr>
          <p:cNvSpPr>
            <a:spLocks noGrp="1"/>
          </p:cNvSpPr>
          <p:nvPr/>
        </p:nvSpPr>
        <p:spPr>
          <a:xfrm>
            <a:off x="9972675" y="2952750"/>
            <a:ext cx="15906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hard-braking events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51E6AE-B3AD-4DD2-B767-6187321F4F65}"/>
              </a:ext>
            </a:extLst>
          </p:cNvPr>
          <p:cNvSpPr>
            <a:spLocks noGrp="1"/>
          </p:cNvSpPr>
          <p:nvPr/>
        </p:nvSpPr>
        <p:spPr>
          <a:xfrm>
            <a:off x="0" y="5381625"/>
            <a:ext cx="12192000" cy="147637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CF553F-8397-4A81-8787-95BE4D0F9D6B}"/>
              </a:ext>
            </a:extLst>
          </p:cNvPr>
          <p:cNvSpPr>
            <a:spLocks noGrp="1"/>
          </p:cNvSpPr>
          <p:nvPr/>
        </p:nvSpPr>
        <p:spPr>
          <a:xfrm>
            <a:off x="409575" y="5676900"/>
            <a:ext cx="2571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How to read this slide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08233B-1A13-4C9A-ACE4-B2B5C0ED652C}"/>
              </a:ext>
            </a:extLst>
          </p:cNvPr>
          <p:cNvSpPr>
            <a:spLocks noGrp="1"/>
          </p:cNvSpPr>
          <p:nvPr/>
        </p:nvSpPr>
        <p:spPr>
          <a:xfrm>
            <a:off x="3333750" y="5619750"/>
            <a:ext cx="723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>The run is useful for visualization and exploratory review. It is not a calibrated traffic-engineering model, and the summary should be treated as evidence to inspect rather than a decision result.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1C5033-27B0-4905-B497-9B5FE1988497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Local SUMO data: Data/Nanke/project/High precision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2B95FAC-770F-4ABB-874C-4CFAE30596D5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68129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E70DD028-EB4E-47C2-A6DA-FD2F5A0A1431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68580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dashboard matches the source data for the main playback metrics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B456B0-6DF3-4ECF-B495-315BF7434DDC}"/>
              </a:ext>
            </a:extLst>
          </p:cNvPr>
          <p:cNvSpPr>
            <a:spLocks noGrp="1"/>
          </p:cNvSpPr>
          <p:nvPr/>
        </p:nvSpPr>
        <p:spPr>
          <a:xfrm>
            <a:off x="7810500" y="476250"/>
            <a:ext cx="39814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The comparison checks dashboard values against the original SUMO files in Data/Nanke/project/High precision.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04D1BF-F77E-4B91-954C-2832B76D2220}"/>
              </a:ext>
            </a:extLst>
          </p:cNvPr>
          <p:cNvSpPr>
            <a:spLocks noGrp="1"/>
          </p:cNvSpPr>
          <p:nvPr/>
        </p:nvSpPr>
        <p:spPr>
          <a:xfrm>
            <a:off x="409575" y="1790700"/>
            <a:ext cx="2857500" cy="4191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F57391-6025-4479-B320-70F587A0F85E}"/>
              </a:ext>
            </a:extLst>
          </p:cNvPr>
          <p:cNvSpPr>
            <a:spLocks noGrp="1"/>
          </p:cNvSpPr>
          <p:nvPr/>
        </p:nvSpPr>
        <p:spPr>
          <a:xfrm>
            <a:off x="3381375" y="1790700"/>
            <a:ext cx="2381250" cy="4191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446A29-3F32-4D87-A2CF-6647DD3CD56F}"/>
              </a:ext>
            </a:extLst>
          </p:cNvPr>
          <p:cNvSpPr>
            <a:spLocks noGrp="1"/>
          </p:cNvSpPr>
          <p:nvPr/>
        </p:nvSpPr>
        <p:spPr>
          <a:xfrm>
            <a:off x="5876925" y="1790700"/>
            <a:ext cx="2381250" cy="4191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EDCD33-D21D-4197-9DE4-2B706A3D2612}"/>
              </a:ext>
            </a:extLst>
          </p:cNvPr>
          <p:cNvSpPr>
            <a:spLocks noGrp="1"/>
          </p:cNvSpPr>
          <p:nvPr/>
        </p:nvSpPr>
        <p:spPr>
          <a:xfrm>
            <a:off x="8372475" y="1790700"/>
            <a:ext cx="2000250" cy="4191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121BD0-A10E-4098-8BDD-9BC4E99506DB}"/>
              </a:ext>
            </a:extLst>
          </p:cNvPr>
          <p:cNvSpPr>
            <a:spLocks noGrp="1"/>
          </p:cNvSpPr>
          <p:nvPr/>
        </p:nvSpPr>
        <p:spPr>
          <a:xfrm>
            <a:off x="542925" y="1895475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6E0FC5-DFA2-4A1A-AA7A-6307B5AF9C9F}"/>
              </a:ext>
            </a:extLst>
          </p:cNvPr>
          <p:cNvSpPr>
            <a:spLocks noGrp="1"/>
          </p:cNvSpPr>
          <p:nvPr/>
        </p:nvSpPr>
        <p:spPr>
          <a:xfrm>
            <a:off x="3514725" y="1895475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Source folder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840055-DDFE-48BF-AE06-BCEEA1297B3B}"/>
              </a:ext>
            </a:extLst>
          </p:cNvPr>
          <p:cNvSpPr>
            <a:spLocks noGrp="1"/>
          </p:cNvSpPr>
          <p:nvPr/>
        </p:nvSpPr>
        <p:spPr>
          <a:xfrm>
            <a:off x="6010275" y="1895475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78497B-6ABB-4CF4-8E82-E516228F6E04}"/>
              </a:ext>
            </a:extLst>
          </p:cNvPr>
          <p:cNvSpPr>
            <a:spLocks noGrp="1"/>
          </p:cNvSpPr>
          <p:nvPr/>
        </p:nvSpPr>
        <p:spPr>
          <a:xfrm>
            <a:off x="8505825" y="1895475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3EACF6-79DF-42BF-AC2E-8EE213AD6500}"/>
              </a:ext>
            </a:extLst>
          </p:cNvPr>
          <p:cNvSpPr>
            <a:spLocks noGrp="1"/>
          </p:cNvSpPr>
          <p:nvPr/>
        </p:nvSpPr>
        <p:spPr>
          <a:xfrm>
            <a:off x="409575" y="2305050"/>
            <a:ext cx="2857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099BF9-B19F-4E3C-B883-A4D4DF9F6C09}"/>
              </a:ext>
            </a:extLst>
          </p:cNvPr>
          <p:cNvSpPr>
            <a:spLocks noGrp="1"/>
          </p:cNvSpPr>
          <p:nvPr/>
        </p:nvSpPr>
        <p:spPr>
          <a:xfrm>
            <a:off x="542925" y="2438400"/>
            <a:ext cx="2590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Vehicles in FCD playback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7CA2D3-12E7-4A2D-BC7C-62621F894B49}"/>
              </a:ext>
            </a:extLst>
          </p:cNvPr>
          <p:cNvSpPr>
            <a:spLocks noGrp="1"/>
          </p:cNvSpPr>
          <p:nvPr/>
        </p:nvSpPr>
        <p:spPr>
          <a:xfrm>
            <a:off x="3381375" y="2305050"/>
            <a:ext cx="2381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3AFBFC-CC83-4509-96DB-5A52837B702D}"/>
              </a:ext>
            </a:extLst>
          </p:cNvPr>
          <p:cNvSpPr>
            <a:spLocks noGrp="1"/>
          </p:cNvSpPr>
          <p:nvPr/>
        </p:nvSpPr>
        <p:spPr>
          <a:xfrm>
            <a:off x="3514725" y="2438400"/>
            <a:ext cx="2114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1,951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8F1D37-B13E-46C0-B426-E398969554FD}"/>
              </a:ext>
            </a:extLst>
          </p:cNvPr>
          <p:cNvSpPr>
            <a:spLocks noGrp="1"/>
          </p:cNvSpPr>
          <p:nvPr/>
        </p:nvSpPr>
        <p:spPr>
          <a:xfrm>
            <a:off x="5876925" y="2305050"/>
            <a:ext cx="2381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122C91-AE7E-4F62-B922-1294E54B060B}"/>
              </a:ext>
            </a:extLst>
          </p:cNvPr>
          <p:cNvSpPr>
            <a:spLocks noGrp="1"/>
          </p:cNvSpPr>
          <p:nvPr/>
        </p:nvSpPr>
        <p:spPr>
          <a:xfrm>
            <a:off x="6010275" y="2438400"/>
            <a:ext cx="2114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1,951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EB4D28-2506-4257-9254-76BB14222B1F}"/>
              </a:ext>
            </a:extLst>
          </p:cNvPr>
          <p:cNvSpPr>
            <a:spLocks noGrp="1"/>
          </p:cNvSpPr>
          <p:nvPr/>
        </p:nvSpPr>
        <p:spPr>
          <a:xfrm>
            <a:off x="8372475" y="2305050"/>
            <a:ext cx="2000250" cy="5143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4008EE-BEA3-4471-8F60-1C3082E97E57}"/>
              </a:ext>
            </a:extLst>
          </p:cNvPr>
          <p:cNvSpPr>
            <a:spLocks noGrp="1"/>
          </p:cNvSpPr>
          <p:nvPr/>
        </p:nvSpPr>
        <p:spPr>
          <a:xfrm>
            <a:off x="8505825" y="2438400"/>
            <a:ext cx="1733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22BCD3"/>
                </a:solidFill>
              </a:defRPr>
            </a:pPr>
            <a:r>
              <a:rPr sz="1425" b="1">
                <a:solidFill>
                  <a:srgbClr val="22BCD3"/>
                </a:solidFill>
              </a:rPr>
              <a:t>Match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664965-322C-43C4-8468-48845B52F82B}"/>
              </a:ext>
            </a:extLst>
          </p:cNvPr>
          <p:cNvSpPr>
            <a:spLocks noGrp="1"/>
          </p:cNvSpPr>
          <p:nvPr/>
        </p:nvSpPr>
        <p:spPr>
          <a:xfrm>
            <a:off x="409575" y="2914650"/>
            <a:ext cx="2857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7AA316-9BD2-4899-9C38-7BDE67CC1CF1}"/>
              </a:ext>
            </a:extLst>
          </p:cNvPr>
          <p:cNvSpPr>
            <a:spLocks noGrp="1"/>
          </p:cNvSpPr>
          <p:nvPr/>
        </p:nvSpPr>
        <p:spPr>
          <a:xfrm>
            <a:off x="542925" y="3048000"/>
            <a:ext cx="2590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FCD trajectory samples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3799927-3FA3-4B7A-8204-CD38E6B67891}"/>
              </a:ext>
            </a:extLst>
          </p:cNvPr>
          <p:cNvSpPr>
            <a:spLocks noGrp="1"/>
          </p:cNvSpPr>
          <p:nvPr/>
        </p:nvSpPr>
        <p:spPr>
          <a:xfrm>
            <a:off x="3381375" y="2914650"/>
            <a:ext cx="2381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D390103-9DBD-4862-B0B2-6EB2444AE770}"/>
              </a:ext>
            </a:extLst>
          </p:cNvPr>
          <p:cNvSpPr>
            <a:spLocks noGrp="1"/>
          </p:cNvSpPr>
          <p:nvPr/>
        </p:nvSpPr>
        <p:spPr>
          <a:xfrm>
            <a:off x="3514725" y="3048000"/>
            <a:ext cx="2114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82,600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915237-7C39-435E-B322-A77446027B6D}"/>
              </a:ext>
            </a:extLst>
          </p:cNvPr>
          <p:cNvSpPr>
            <a:spLocks noGrp="1"/>
          </p:cNvSpPr>
          <p:nvPr/>
        </p:nvSpPr>
        <p:spPr>
          <a:xfrm>
            <a:off x="5876925" y="2914650"/>
            <a:ext cx="2381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CA2E1C-B54D-41F4-A6CE-53C4AF5E8583}"/>
              </a:ext>
            </a:extLst>
          </p:cNvPr>
          <p:cNvSpPr>
            <a:spLocks noGrp="1"/>
          </p:cNvSpPr>
          <p:nvPr/>
        </p:nvSpPr>
        <p:spPr>
          <a:xfrm>
            <a:off x="6010275" y="3048000"/>
            <a:ext cx="2114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82,600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1C30E26-925E-4437-BC00-B29567ABBE6D}"/>
              </a:ext>
            </a:extLst>
          </p:cNvPr>
          <p:cNvSpPr>
            <a:spLocks noGrp="1"/>
          </p:cNvSpPr>
          <p:nvPr/>
        </p:nvSpPr>
        <p:spPr>
          <a:xfrm>
            <a:off x="8372475" y="2914650"/>
            <a:ext cx="2000250" cy="5143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4194DE0-A2AD-4B14-BEAB-6A74A7E00786}"/>
              </a:ext>
            </a:extLst>
          </p:cNvPr>
          <p:cNvSpPr>
            <a:spLocks noGrp="1"/>
          </p:cNvSpPr>
          <p:nvPr/>
        </p:nvSpPr>
        <p:spPr>
          <a:xfrm>
            <a:off x="8505825" y="3048000"/>
            <a:ext cx="1733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22BCD3"/>
                </a:solidFill>
              </a:defRPr>
            </a:pPr>
            <a:r>
              <a:rPr sz="1425" b="1">
                <a:solidFill>
                  <a:srgbClr val="22BCD3"/>
                </a:solidFill>
              </a:rPr>
              <a:t>Match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7C06CA-F934-4678-A885-7D074491D9AD}"/>
              </a:ext>
            </a:extLst>
          </p:cNvPr>
          <p:cNvSpPr>
            <a:spLocks noGrp="1"/>
          </p:cNvSpPr>
          <p:nvPr/>
        </p:nvSpPr>
        <p:spPr>
          <a:xfrm>
            <a:off x="409575" y="3524250"/>
            <a:ext cx="2857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BB0E788-2295-4269-99C2-6F3843B99927}"/>
              </a:ext>
            </a:extLst>
          </p:cNvPr>
          <p:cNvSpPr>
            <a:spLocks noGrp="1"/>
          </p:cNvSpPr>
          <p:nvPr/>
        </p:nvSpPr>
        <p:spPr>
          <a:xfrm>
            <a:off x="542925" y="3657600"/>
            <a:ext cx="2590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Completed vehicles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103EFC2-7A5A-49C3-886B-C120534CCB16}"/>
              </a:ext>
            </a:extLst>
          </p:cNvPr>
          <p:cNvSpPr>
            <a:spLocks noGrp="1"/>
          </p:cNvSpPr>
          <p:nvPr/>
        </p:nvSpPr>
        <p:spPr>
          <a:xfrm>
            <a:off x="3381375" y="3524250"/>
            <a:ext cx="2381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4C92A97-7819-4CD9-BB60-A216B94A2838}"/>
              </a:ext>
            </a:extLst>
          </p:cNvPr>
          <p:cNvSpPr>
            <a:spLocks noGrp="1"/>
          </p:cNvSpPr>
          <p:nvPr/>
        </p:nvSpPr>
        <p:spPr>
          <a:xfrm>
            <a:off x="3514725" y="3657600"/>
            <a:ext cx="2114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319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A63A7B7-46EA-4D21-95CA-6A115EAB7313}"/>
              </a:ext>
            </a:extLst>
          </p:cNvPr>
          <p:cNvSpPr>
            <a:spLocks noGrp="1"/>
          </p:cNvSpPr>
          <p:nvPr/>
        </p:nvSpPr>
        <p:spPr>
          <a:xfrm>
            <a:off x="5876925" y="3524250"/>
            <a:ext cx="2381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22566D8-EA89-4D7D-BC9A-A7188F5C2D76}"/>
              </a:ext>
            </a:extLst>
          </p:cNvPr>
          <p:cNvSpPr>
            <a:spLocks noGrp="1"/>
          </p:cNvSpPr>
          <p:nvPr/>
        </p:nvSpPr>
        <p:spPr>
          <a:xfrm>
            <a:off x="6010275" y="3657600"/>
            <a:ext cx="2114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319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70D0796-BE01-44F6-9D14-DF8E32E1854E}"/>
              </a:ext>
            </a:extLst>
          </p:cNvPr>
          <p:cNvSpPr>
            <a:spLocks noGrp="1"/>
          </p:cNvSpPr>
          <p:nvPr/>
        </p:nvSpPr>
        <p:spPr>
          <a:xfrm>
            <a:off x="8372475" y="3524250"/>
            <a:ext cx="2000250" cy="5143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73673F2-847B-4864-A0AA-E4116C0B3D41}"/>
              </a:ext>
            </a:extLst>
          </p:cNvPr>
          <p:cNvSpPr>
            <a:spLocks noGrp="1"/>
          </p:cNvSpPr>
          <p:nvPr/>
        </p:nvSpPr>
        <p:spPr>
          <a:xfrm>
            <a:off x="8505825" y="3657600"/>
            <a:ext cx="1733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Match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B48042E-E4E5-492D-9A19-281E974F36FA}"/>
              </a:ext>
            </a:extLst>
          </p:cNvPr>
          <p:cNvSpPr>
            <a:spLocks noGrp="1"/>
          </p:cNvSpPr>
          <p:nvPr/>
        </p:nvSpPr>
        <p:spPr>
          <a:xfrm>
            <a:off x="409575" y="4133850"/>
            <a:ext cx="2857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B029232-D5B4-4D69-8E92-3A463163EBB7}"/>
              </a:ext>
            </a:extLst>
          </p:cNvPr>
          <p:cNvSpPr>
            <a:spLocks noGrp="1"/>
          </p:cNvSpPr>
          <p:nvPr/>
        </p:nvSpPr>
        <p:spPr>
          <a:xfrm>
            <a:off x="542925" y="4267200"/>
            <a:ext cx="2590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Mean travel time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1750B70-5E8A-4D97-B4E7-2F0C9845B4B7}"/>
              </a:ext>
            </a:extLst>
          </p:cNvPr>
          <p:cNvSpPr>
            <a:spLocks noGrp="1"/>
          </p:cNvSpPr>
          <p:nvPr/>
        </p:nvSpPr>
        <p:spPr>
          <a:xfrm>
            <a:off x="3381375" y="4133850"/>
            <a:ext cx="2381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1754873-FECB-4572-BD63-ABA5DFA71365}"/>
              </a:ext>
            </a:extLst>
          </p:cNvPr>
          <p:cNvSpPr>
            <a:spLocks noGrp="1"/>
          </p:cNvSpPr>
          <p:nvPr/>
        </p:nvSpPr>
        <p:spPr>
          <a:xfrm>
            <a:off x="3514725" y="4267200"/>
            <a:ext cx="2114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42.58 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9BB6BBC-6D74-4F35-AE1A-C3E98D321113}"/>
              </a:ext>
            </a:extLst>
          </p:cNvPr>
          <p:cNvSpPr>
            <a:spLocks noGrp="1"/>
          </p:cNvSpPr>
          <p:nvPr/>
        </p:nvSpPr>
        <p:spPr>
          <a:xfrm>
            <a:off x="5876925" y="4133850"/>
            <a:ext cx="2381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E62698A-5CD1-4F5D-99B8-86CB8F0CCF0E}"/>
              </a:ext>
            </a:extLst>
          </p:cNvPr>
          <p:cNvSpPr>
            <a:spLocks noGrp="1"/>
          </p:cNvSpPr>
          <p:nvPr/>
        </p:nvSpPr>
        <p:spPr>
          <a:xfrm>
            <a:off x="6010275" y="4267200"/>
            <a:ext cx="2114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42.58 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5822A59-637A-4F1A-966A-8908CCEFAF71}"/>
              </a:ext>
            </a:extLst>
          </p:cNvPr>
          <p:cNvSpPr>
            <a:spLocks noGrp="1"/>
          </p:cNvSpPr>
          <p:nvPr/>
        </p:nvSpPr>
        <p:spPr>
          <a:xfrm>
            <a:off x="8372475" y="4133850"/>
            <a:ext cx="2000250" cy="5143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0E6C337-4F99-4D3F-B4C0-03B01BA80A90}"/>
              </a:ext>
            </a:extLst>
          </p:cNvPr>
          <p:cNvSpPr>
            <a:spLocks noGrp="1"/>
          </p:cNvSpPr>
          <p:nvPr/>
        </p:nvSpPr>
        <p:spPr>
          <a:xfrm>
            <a:off x="8505825" y="4267200"/>
            <a:ext cx="1733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Match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352A6E4-AFAD-4138-B2CE-7AFD9EA441E6}"/>
              </a:ext>
            </a:extLst>
          </p:cNvPr>
          <p:cNvSpPr>
            <a:spLocks noGrp="1"/>
          </p:cNvSpPr>
          <p:nvPr/>
        </p:nvSpPr>
        <p:spPr>
          <a:xfrm>
            <a:off x="409575" y="4743450"/>
            <a:ext cx="2857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5CD7731-5AF9-4B58-B358-5F5F3D2B5F31}"/>
              </a:ext>
            </a:extLst>
          </p:cNvPr>
          <p:cNvSpPr>
            <a:spLocks noGrp="1"/>
          </p:cNvSpPr>
          <p:nvPr/>
        </p:nvSpPr>
        <p:spPr>
          <a:xfrm>
            <a:off x="542925" y="4876800"/>
            <a:ext cx="2590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Minimum TTC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E898F02-1A09-4C83-B0AE-37285C6C7C40}"/>
              </a:ext>
            </a:extLst>
          </p:cNvPr>
          <p:cNvSpPr>
            <a:spLocks noGrp="1"/>
          </p:cNvSpPr>
          <p:nvPr/>
        </p:nvSpPr>
        <p:spPr>
          <a:xfrm>
            <a:off x="3381375" y="4743450"/>
            <a:ext cx="2381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E0B379E-6B78-4FE5-A394-234CED7734C4}"/>
              </a:ext>
            </a:extLst>
          </p:cNvPr>
          <p:cNvSpPr>
            <a:spLocks noGrp="1"/>
          </p:cNvSpPr>
          <p:nvPr/>
        </p:nvSpPr>
        <p:spPr>
          <a:xfrm>
            <a:off x="3514725" y="4876800"/>
            <a:ext cx="2114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0.43 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25A932A-1BD2-43FF-B102-8C8DAD170119}"/>
              </a:ext>
            </a:extLst>
          </p:cNvPr>
          <p:cNvSpPr>
            <a:spLocks noGrp="1"/>
          </p:cNvSpPr>
          <p:nvPr/>
        </p:nvSpPr>
        <p:spPr>
          <a:xfrm>
            <a:off x="5876925" y="4743450"/>
            <a:ext cx="2381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53213DC-6355-4573-BF07-EE8147464846}"/>
              </a:ext>
            </a:extLst>
          </p:cNvPr>
          <p:cNvSpPr>
            <a:spLocks noGrp="1"/>
          </p:cNvSpPr>
          <p:nvPr/>
        </p:nvSpPr>
        <p:spPr>
          <a:xfrm>
            <a:off x="6010275" y="4876800"/>
            <a:ext cx="2114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0.43 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77130F2-A702-4A66-A530-4BBDE3E1A234}"/>
              </a:ext>
            </a:extLst>
          </p:cNvPr>
          <p:cNvSpPr>
            <a:spLocks noGrp="1"/>
          </p:cNvSpPr>
          <p:nvPr/>
        </p:nvSpPr>
        <p:spPr>
          <a:xfrm>
            <a:off x="8372475" y="4743450"/>
            <a:ext cx="2000250" cy="5143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EA2D696-3774-4455-8E65-5BF7B4BCD63E}"/>
              </a:ext>
            </a:extLst>
          </p:cNvPr>
          <p:cNvSpPr>
            <a:spLocks noGrp="1"/>
          </p:cNvSpPr>
          <p:nvPr/>
        </p:nvSpPr>
        <p:spPr>
          <a:xfrm>
            <a:off x="8505825" y="4876800"/>
            <a:ext cx="1733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Match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E7D329A-3EE5-497C-ABE5-C2EE8D405B3F}"/>
              </a:ext>
            </a:extLst>
          </p:cNvPr>
          <p:cNvSpPr>
            <a:spLocks noGrp="1"/>
          </p:cNvSpPr>
          <p:nvPr/>
        </p:nvSpPr>
        <p:spPr>
          <a:xfrm>
            <a:off x="409575" y="5353050"/>
            <a:ext cx="2857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D356C12-EF93-4D01-AE2C-ED8117AA904B}"/>
              </a:ext>
            </a:extLst>
          </p:cNvPr>
          <p:cNvSpPr>
            <a:spLocks noGrp="1"/>
          </p:cNvSpPr>
          <p:nvPr/>
        </p:nvSpPr>
        <p:spPr>
          <a:xfrm>
            <a:off x="542925" y="5486400"/>
            <a:ext cx="2590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Critical TTC events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1A2F1DF-0962-4290-96EF-FCEB72435995}"/>
              </a:ext>
            </a:extLst>
          </p:cNvPr>
          <p:cNvSpPr>
            <a:spLocks noGrp="1"/>
          </p:cNvSpPr>
          <p:nvPr/>
        </p:nvSpPr>
        <p:spPr>
          <a:xfrm>
            <a:off x="3381375" y="5353050"/>
            <a:ext cx="2381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1DE674D-D0C5-4A0E-B6F3-2DB53EDC45C0}"/>
              </a:ext>
            </a:extLst>
          </p:cNvPr>
          <p:cNvSpPr>
            <a:spLocks noGrp="1"/>
          </p:cNvSpPr>
          <p:nvPr/>
        </p:nvSpPr>
        <p:spPr>
          <a:xfrm>
            <a:off x="3514725" y="5486400"/>
            <a:ext cx="2114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1,219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5B84373-3EAE-410F-85DF-4ACF3708D26D}"/>
              </a:ext>
            </a:extLst>
          </p:cNvPr>
          <p:cNvSpPr>
            <a:spLocks noGrp="1"/>
          </p:cNvSpPr>
          <p:nvPr/>
        </p:nvSpPr>
        <p:spPr>
          <a:xfrm>
            <a:off x="5876925" y="5353050"/>
            <a:ext cx="2381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BF38C98-698D-4120-A42F-9AC07BA40E3C}"/>
              </a:ext>
            </a:extLst>
          </p:cNvPr>
          <p:cNvSpPr>
            <a:spLocks noGrp="1"/>
          </p:cNvSpPr>
          <p:nvPr/>
        </p:nvSpPr>
        <p:spPr>
          <a:xfrm>
            <a:off x="6010275" y="5486400"/>
            <a:ext cx="2114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1,219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2CF391C-4529-4D1E-8589-13796DC31174}"/>
              </a:ext>
            </a:extLst>
          </p:cNvPr>
          <p:cNvSpPr>
            <a:spLocks noGrp="1"/>
          </p:cNvSpPr>
          <p:nvPr/>
        </p:nvSpPr>
        <p:spPr>
          <a:xfrm>
            <a:off x="8372475" y="5353050"/>
            <a:ext cx="2000250" cy="5143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75B78C7-7BDE-404D-A1B1-1D3A5620A4EE}"/>
              </a:ext>
            </a:extLst>
          </p:cNvPr>
          <p:cNvSpPr>
            <a:spLocks noGrp="1"/>
          </p:cNvSpPr>
          <p:nvPr/>
        </p:nvSpPr>
        <p:spPr>
          <a:xfrm>
            <a:off x="8505825" y="5486400"/>
            <a:ext cx="1733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FF5A4F"/>
                </a:solidFill>
              </a:defRPr>
            </a:pPr>
            <a:r>
              <a:rPr sz="1425" b="1">
                <a:solidFill>
                  <a:srgbClr val="FF5A4F"/>
                </a:solidFill>
              </a:rPr>
              <a:t>Match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C3D55FD-5A92-4F2E-BEAD-0926EFF0927B}"/>
              </a:ext>
            </a:extLst>
          </p:cNvPr>
          <p:cNvSpPr>
            <a:spLocks noGrp="1"/>
          </p:cNvSpPr>
          <p:nvPr/>
        </p:nvSpPr>
        <p:spPr>
          <a:xfrm>
            <a:off x="409575" y="601980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Collision records also match: source 0, dashboard 0.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AD9F62A-1099-470A-97B2-CECC56C85BEA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Local SUMO data: Data/Nanke/project/High precision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A011BE1-9C0A-483F-AF9F-93B6194E7F61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15481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3045783-1591-42A3-B8A9-F757AE71738F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68580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differences are processing choices, not a different dataset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B3C6D2-902B-4FEB-866F-9B4D9F86A017}"/>
              </a:ext>
            </a:extLst>
          </p:cNvPr>
          <p:cNvSpPr>
            <a:spLocks noGrp="1"/>
          </p:cNvSpPr>
          <p:nvPr/>
        </p:nvSpPr>
        <p:spPr>
          <a:xfrm>
            <a:off x="7810500" y="476250"/>
            <a:ext cx="39814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The dashboard converts raw SUMO outputs into review-ready metrics, so a few values are not one-to-one raw counts.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18EDBE-8D13-4015-9C95-FF8B76908407}"/>
              </a:ext>
            </a:extLst>
          </p:cNvPr>
          <p:cNvSpPr>
            <a:spLocks noGrp="1"/>
          </p:cNvSpPr>
          <p:nvPr/>
        </p:nvSpPr>
        <p:spPr>
          <a:xfrm>
            <a:off x="409575" y="2095500"/>
            <a:ext cx="2571750" cy="15811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0960CD-096D-4D12-9F99-1216793A63CD}"/>
              </a:ext>
            </a:extLst>
          </p:cNvPr>
          <p:cNvSpPr>
            <a:spLocks noGrp="1"/>
          </p:cNvSpPr>
          <p:nvPr/>
        </p:nvSpPr>
        <p:spPr>
          <a:xfrm>
            <a:off x="638175" y="2324100"/>
            <a:ext cx="2114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22BCD3"/>
                </a:solidFill>
              </a:defRPr>
            </a:pPr>
            <a:r>
              <a:rPr sz="1800" b="1">
                <a:solidFill>
                  <a:srgbClr val="22BCD3"/>
                </a:solidFill>
              </a:rPr>
              <a:t>Route demand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2BFBF9-B0AA-4A6E-AE44-E4707A0F6A5F}"/>
              </a:ext>
            </a:extLst>
          </p:cNvPr>
          <p:cNvSpPr>
            <a:spLocks noGrp="1"/>
          </p:cNvSpPr>
          <p:nvPr/>
        </p:nvSpPr>
        <p:spPr>
          <a:xfrm>
            <a:off x="638175" y="2762250"/>
            <a:ext cx="21145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random.rou.xml implies 2,405 nominal vehicles, but the dashboard counts the 1,951 vehicles that actually appear in fcd.xml.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42A05C-7958-4ED2-8615-C625BAFBE0E4}"/>
              </a:ext>
            </a:extLst>
          </p:cNvPr>
          <p:cNvSpPr>
            <a:spLocks noGrp="1"/>
          </p:cNvSpPr>
          <p:nvPr/>
        </p:nvSpPr>
        <p:spPr>
          <a:xfrm>
            <a:off x="3333750" y="2095500"/>
            <a:ext cx="2571750" cy="15811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CF08CE-F69C-41B4-9F64-7782B5B5138F}"/>
              </a:ext>
            </a:extLst>
          </p:cNvPr>
          <p:cNvSpPr>
            <a:spLocks noGrp="1"/>
          </p:cNvSpPr>
          <p:nvPr/>
        </p:nvSpPr>
        <p:spPr>
          <a:xfrm>
            <a:off x="3562350" y="2324100"/>
            <a:ext cx="2114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SSM conflicts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90CF21-5345-4527-946F-5271F698701B}"/>
              </a:ext>
            </a:extLst>
          </p:cNvPr>
          <p:cNvSpPr>
            <a:spLocks noGrp="1"/>
          </p:cNvSpPr>
          <p:nvPr/>
        </p:nvSpPr>
        <p:spPr>
          <a:xfrm>
            <a:off x="3562350" y="2762250"/>
            <a:ext cx="21145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ssm.xml has 2,706 conflict records. The dashboard shows 2,705 because one overlapping warning event is deduplicated.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6FCF13-4789-46D4-ACA5-87C41AA48EAD}"/>
              </a:ext>
            </a:extLst>
          </p:cNvPr>
          <p:cNvSpPr>
            <a:spLocks noGrp="1"/>
          </p:cNvSpPr>
          <p:nvPr/>
        </p:nvSpPr>
        <p:spPr>
          <a:xfrm>
            <a:off x="6257925" y="2095500"/>
            <a:ext cx="2571750" cy="15811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66FD43-01C4-48EA-8B15-2070123F3CCC}"/>
              </a:ext>
            </a:extLst>
          </p:cNvPr>
          <p:cNvSpPr>
            <a:spLocks noGrp="1"/>
          </p:cNvSpPr>
          <p:nvPr/>
        </p:nvSpPr>
        <p:spPr>
          <a:xfrm>
            <a:off x="6486525" y="2324100"/>
            <a:ext cx="2114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Braking events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DF95E98-AF1B-4308-A4F7-F0031E3F08D2}"/>
              </a:ext>
            </a:extLst>
          </p:cNvPr>
          <p:cNvSpPr>
            <a:spLocks noGrp="1"/>
          </p:cNvSpPr>
          <p:nvPr/>
        </p:nvSpPr>
        <p:spPr>
          <a:xfrm>
            <a:off x="6486525" y="2762250"/>
            <a:ext cx="21145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There is no raw braking XML. The dashboard derives 255 hard-braking events and 0 emergency-braking events from FCD movement.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2E2863-9E56-4A2A-9B7C-3693A7FA2902}"/>
              </a:ext>
            </a:extLst>
          </p:cNvPr>
          <p:cNvSpPr>
            <a:spLocks noGrp="1"/>
          </p:cNvSpPr>
          <p:nvPr/>
        </p:nvSpPr>
        <p:spPr>
          <a:xfrm>
            <a:off x="9182100" y="2095500"/>
            <a:ext cx="2609850" cy="15811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8CB257-4001-4A75-ABE6-9ACE3BC2F8BA}"/>
              </a:ext>
            </a:extLst>
          </p:cNvPr>
          <p:cNvSpPr>
            <a:spLocks noGrp="1"/>
          </p:cNvSpPr>
          <p:nvPr/>
        </p:nvSpPr>
        <p:spPr>
          <a:xfrm>
            <a:off x="9410700" y="2324100"/>
            <a:ext cx="2152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Map features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997380-9093-4A34-8424-E7AE2325119A}"/>
              </a:ext>
            </a:extLst>
          </p:cNvPr>
          <p:cNvSpPr>
            <a:spLocks noGrp="1"/>
          </p:cNvSpPr>
          <p:nvPr/>
        </p:nvSpPr>
        <p:spPr>
          <a:xfrm>
            <a:off x="9410700" y="2762250"/>
            <a:ext cx="21526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The source network has edges and lanes; the dashboard shows 228 GeoJSON display features for Cesium.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4B96D5-8CF9-40AF-B191-D906A5FE9D09}"/>
              </a:ext>
            </a:extLst>
          </p:cNvPr>
          <p:cNvSpPr>
            <a:spLocks noGrp="1"/>
          </p:cNvSpPr>
          <p:nvPr/>
        </p:nvSpPr>
        <p:spPr>
          <a:xfrm>
            <a:off x="409575" y="4781550"/>
            <a:ext cx="11382375" cy="8763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6B3DBB-FD7E-47B8-9CCA-78A1A3D96085}"/>
              </a:ext>
            </a:extLst>
          </p:cNvPr>
          <p:cNvSpPr>
            <a:spLocks noGrp="1"/>
          </p:cNvSpPr>
          <p:nvPr/>
        </p:nvSpPr>
        <p:spPr>
          <a:xfrm>
            <a:off x="781050" y="501015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Best conclusion: the dashboard uses the local Nanke data, and the small differences come from import logic that makes the raw SUMO files easier to inspect.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5FAD1A-3DC2-4FEC-A02A-7FC7C7F3D732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Local SUMO data: Data/Nanke/project/High precision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7BCB52-C40C-4C0B-BC11-B88D9C0123ED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20744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D570083-6DCB-49E3-8A45-F74DC3DA5EC5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68580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Changing parameters changes either the run or the way it is read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25578B-CD0C-473D-990B-3F97976FEF7E}"/>
              </a:ext>
            </a:extLst>
          </p:cNvPr>
          <p:cNvSpPr>
            <a:spLocks noGrp="1"/>
          </p:cNvSpPr>
          <p:nvPr/>
        </p:nvSpPr>
        <p:spPr>
          <a:xfrm>
            <a:off x="7810500" y="476250"/>
            <a:ext cx="39814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For imported Data-folder runs, the dashboard shows existing files. For a new run, these values become part of the SUMO scenario.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5B9566-91DF-42F8-915C-6AF714A3DAA4}"/>
              </a:ext>
            </a:extLst>
          </p:cNvPr>
          <p:cNvSpPr>
            <a:spLocks noGrp="1"/>
          </p:cNvSpPr>
          <p:nvPr/>
        </p:nvSpPr>
        <p:spPr>
          <a:xfrm>
            <a:off x="409575" y="2114550"/>
            <a:ext cx="3476625" cy="18478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5520D5-AECB-4FC4-B1E9-7AAF47A54F9F}"/>
              </a:ext>
            </a:extLst>
          </p:cNvPr>
          <p:cNvSpPr>
            <a:spLocks noGrp="1"/>
          </p:cNvSpPr>
          <p:nvPr/>
        </p:nvSpPr>
        <p:spPr>
          <a:xfrm>
            <a:off x="866775" y="2476500"/>
            <a:ext cx="2619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Existing imported run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9DECBA-3D54-4A1F-9EE2-F89FFBCCCEF8}"/>
              </a:ext>
            </a:extLst>
          </p:cNvPr>
          <p:cNvSpPr>
            <a:spLocks noGrp="1"/>
          </p:cNvSpPr>
          <p:nvPr/>
        </p:nvSpPr>
        <p:spPr>
          <a:xfrm>
            <a:off x="866775" y="3028950"/>
            <a:ext cx="2619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000000"/>
                </a:solidFill>
              </a:defRPr>
            </a:pPr>
            <a:r>
              <a:rPr sz="1575">
                <a:solidFill>
                  <a:srgbClr val="000000"/>
                </a:solidFill>
              </a:rPr>
              <a:t>Replays existing SUMO files. Parameter edits do not rewrite that result.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416EA4-0B4B-4429-B1CB-629EDD9AF376}"/>
              </a:ext>
            </a:extLst>
          </p:cNvPr>
          <p:cNvSpPr>
            <a:spLocks noGrp="1"/>
          </p:cNvSpPr>
          <p:nvPr/>
        </p:nvSpPr>
        <p:spPr>
          <a:xfrm>
            <a:off x="4362450" y="2114550"/>
            <a:ext cx="3476625" cy="18478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9369A5-E661-4AD6-A7A8-2CA607C72F44}"/>
              </a:ext>
            </a:extLst>
          </p:cNvPr>
          <p:cNvSpPr>
            <a:spLocks noGrp="1"/>
          </p:cNvSpPr>
          <p:nvPr/>
        </p:nvSpPr>
        <p:spPr>
          <a:xfrm>
            <a:off x="4819650" y="2476500"/>
            <a:ext cx="2619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New simulation controls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8A418E-14C9-4274-8233-8282C8E3413E}"/>
              </a:ext>
            </a:extLst>
          </p:cNvPr>
          <p:cNvSpPr>
            <a:spLocks noGrp="1"/>
          </p:cNvSpPr>
          <p:nvPr/>
        </p:nvSpPr>
        <p:spPr>
          <a:xfrm>
            <a:off x="4819650" y="3028950"/>
            <a:ext cx="2619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000000"/>
                </a:solidFill>
              </a:defRPr>
            </a:pPr>
            <a:r>
              <a:rPr sz="1575">
                <a:solidFill>
                  <a:srgbClr val="000000"/>
                </a:solidFill>
              </a:rPr>
              <a:t>Duration, seed, trip period, tau, decel and step length affect the next SUMO run.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1A8E45-84DF-4DF7-88E0-C4AE7C0590B4}"/>
              </a:ext>
            </a:extLst>
          </p:cNvPr>
          <p:cNvSpPr>
            <a:spLocks noGrp="1"/>
          </p:cNvSpPr>
          <p:nvPr/>
        </p:nvSpPr>
        <p:spPr>
          <a:xfrm>
            <a:off x="8315325" y="2114550"/>
            <a:ext cx="3476625" cy="18478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969739-4B36-49CD-91A5-ABE2904ACCF7}"/>
              </a:ext>
            </a:extLst>
          </p:cNvPr>
          <p:cNvSpPr>
            <a:spLocks noGrp="1"/>
          </p:cNvSpPr>
          <p:nvPr/>
        </p:nvSpPr>
        <p:spPr>
          <a:xfrm>
            <a:off x="8772525" y="2476500"/>
            <a:ext cx="2619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Interpretation controls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611C7A-E429-42F8-B2DA-5E6E62547BEB}"/>
              </a:ext>
            </a:extLst>
          </p:cNvPr>
          <p:cNvSpPr>
            <a:spLocks noGrp="1"/>
          </p:cNvSpPr>
          <p:nvPr/>
        </p:nvSpPr>
        <p:spPr>
          <a:xfrm>
            <a:off x="8772525" y="3028950"/>
            <a:ext cx="2619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000000"/>
                </a:solidFill>
              </a:defRPr>
            </a:pPr>
            <a:r>
              <a:rPr sz="1575">
                <a:solidFill>
                  <a:srgbClr val="000000"/>
                </a:solidFill>
              </a:rPr>
              <a:t>TTC warning and critical values only change how close calls are labelled.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F89655-3A56-4677-A61E-4452B23CDEC7}"/>
              </a:ext>
            </a:extLst>
          </p:cNvPr>
          <p:cNvSpPr>
            <a:spLocks noGrp="1"/>
          </p:cNvSpPr>
          <p:nvPr/>
        </p:nvSpPr>
        <p:spPr>
          <a:xfrm>
            <a:off x="409575" y="4743450"/>
            <a:ext cx="11382375" cy="838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0FDD57-D0E5-4BA7-AA4B-D3ED02BA0B7F}"/>
              </a:ext>
            </a:extLst>
          </p:cNvPr>
          <p:cNvSpPr>
            <a:spLocks noGrp="1"/>
          </p:cNvSpPr>
          <p:nvPr/>
        </p:nvSpPr>
        <p:spPr>
          <a:xfrm>
            <a:off x="876300" y="4972050"/>
            <a:ext cx="1047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Best practice: keep the seed fixed when comparing one parameter change.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1F9EE1-28C4-45C7-9B5A-21AFA7C8F480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Local SUMO data: Data/Nanke/project/High precision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B7C684-6CF2-4413-B81E-74887C498865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882653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E7B1988-840F-434C-959A-E16660DDB119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68580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strongest scenario levers are demand, following gap and event thresholds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F68270-D3D7-41A0-9660-F5179ECA9A31}"/>
              </a:ext>
            </a:extLst>
          </p:cNvPr>
          <p:cNvSpPr>
            <a:spLocks noGrp="1"/>
          </p:cNvSpPr>
          <p:nvPr/>
        </p:nvSpPr>
        <p:spPr>
          <a:xfrm>
            <a:off x="7810500" y="476250"/>
            <a:ext cx="39814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These controls are useful for exploring sensitivity, not for calibrated prediction.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90C8D0-EE11-47C9-A4C4-758F60B564F1}"/>
              </a:ext>
            </a:extLst>
          </p:cNvPr>
          <p:cNvSpPr>
            <a:spLocks noGrp="1"/>
          </p:cNvSpPr>
          <p:nvPr/>
        </p:nvSpPr>
        <p:spPr>
          <a:xfrm>
            <a:off x="409575" y="2095500"/>
            <a:ext cx="2571750" cy="15811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C9AFE1-5DEA-4A68-A7E8-A87C7DCEAB79}"/>
              </a:ext>
            </a:extLst>
          </p:cNvPr>
          <p:cNvSpPr>
            <a:spLocks noGrp="1"/>
          </p:cNvSpPr>
          <p:nvPr/>
        </p:nvSpPr>
        <p:spPr>
          <a:xfrm>
            <a:off x="638175" y="2324100"/>
            <a:ext cx="2114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22BCD3"/>
                </a:solidFill>
              </a:defRPr>
            </a:pPr>
            <a:r>
              <a:rPr sz="1800" b="1">
                <a:solidFill>
                  <a:srgbClr val="22BCD3"/>
                </a:solidFill>
              </a:rPr>
              <a:t>Trip period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8DC05D-9631-4E38-B0FA-701331338EE0}"/>
              </a:ext>
            </a:extLst>
          </p:cNvPr>
          <p:cNvSpPr>
            <a:spLocks noGrp="1"/>
          </p:cNvSpPr>
          <p:nvPr/>
        </p:nvSpPr>
        <p:spPr>
          <a:xfrm>
            <a:off x="638175" y="2762250"/>
            <a:ext cx="21145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Lower period inserts vehicles more often, which usually raises congestion, delay and close-call counts.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D6FD6D-6FE7-418F-A6A2-C8A29832CBCC}"/>
              </a:ext>
            </a:extLst>
          </p:cNvPr>
          <p:cNvSpPr>
            <a:spLocks noGrp="1"/>
          </p:cNvSpPr>
          <p:nvPr/>
        </p:nvSpPr>
        <p:spPr>
          <a:xfrm>
            <a:off x="3333750" y="2095500"/>
            <a:ext cx="2571750" cy="15811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F31DA1-20C7-4A85-9012-D0BB246B8D34}"/>
              </a:ext>
            </a:extLst>
          </p:cNvPr>
          <p:cNvSpPr>
            <a:spLocks noGrp="1"/>
          </p:cNvSpPr>
          <p:nvPr/>
        </p:nvSpPr>
        <p:spPr>
          <a:xfrm>
            <a:off x="3562350" y="2324100"/>
            <a:ext cx="2114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Tau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05F985-A5EA-4B42-BBAF-384B3E9137B5}"/>
              </a:ext>
            </a:extLst>
          </p:cNvPr>
          <p:cNvSpPr>
            <a:spLocks noGrp="1"/>
          </p:cNvSpPr>
          <p:nvPr/>
        </p:nvSpPr>
        <p:spPr>
          <a:xfrm>
            <a:off x="3562350" y="2762250"/>
            <a:ext cx="21145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Lower tau reduces desired following time. Vehicles follow closer, so TTC warnings can increase.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312A58-49E2-4398-B98E-971F42EB6D6C}"/>
              </a:ext>
            </a:extLst>
          </p:cNvPr>
          <p:cNvSpPr>
            <a:spLocks noGrp="1"/>
          </p:cNvSpPr>
          <p:nvPr/>
        </p:nvSpPr>
        <p:spPr>
          <a:xfrm>
            <a:off x="6257925" y="2095500"/>
            <a:ext cx="2571750" cy="15811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B7B328-2B0A-424F-B099-FC1711ED5DE7}"/>
              </a:ext>
            </a:extLst>
          </p:cNvPr>
          <p:cNvSpPr>
            <a:spLocks noGrp="1"/>
          </p:cNvSpPr>
          <p:nvPr/>
        </p:nvSpPr>
        <p:spPr>
          <a:xfrm>
            <a:off x="6486525" y="2324100"/>
            <a:ext cx="2114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F5A4F"/>
                </a:solidFill>
              </a:defRPr>
            </a:pPr>
            <a:r>
              <a:rPr sz="1800" b="1">
                <a:solidFill>
                  <a:srgbClr val="FF5A4F"/>
                </a:solidFill>
              </a:rPr>
              <a:t>Emergency decel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4FDB53-FD18-4E17-BF21-E4B1770A61D4}"/>
              </a:ext>
            </a:extLst>
          </p:cNvPr>
          <p:cNvSpPr>
            <a:spLocks noGrp="1"/>
          </p:cNvSpPr>
          <p:nvPr/>
        </p:nvSpPr>
        <p:spPr>
          <a:xfrm>
            <a:off x="6486525" y="2762250"/>
            <a:ext cx="21145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In the braking preset, stronger emergency decel creates a sharper lead-vehicle stop and follower response.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1A59A2-016F-4DA5-B1EE-DCC4D8305E3D}"/>
              </a:ext>
            </a:extLst>
          </p:cNvPr>
          <p:cNvSpPr>
            <a:spLocks noGrp="1"/>
          </p:cNvSpPr>
          <p:nvPr/>
        </p:nvSpPr>
        <p:spPr>
          <a:xfrm>
            <a:off x="9182100" y="2095500"/>
            <a:ext cx="2609850" cy="15811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FD00DC-2BA1-4589-9ABB-1B57B13A8238}"/>
              </a:ext>
            </a:extLst>
          </p:cNvPr>
          <p:cNvSpPr>
            <a:spLocks noGrp="1"/>
          </p:cNvSpPr>
          <p:nvPr/>
        </p:nvSpPr>
        <p:spPr>
          <a:xfrm>
            <a:off x="9410700" y="2324100"/>
            <a:ext cx="2152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TTC thresholds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E92934-9A24-43BC-95D6-C5C732206472}"/>
              </a:ext>
            </a:extLst>
          </p:cNvPr>
          <p:cNvSpPr>
            <a:spLocks noGrp="1"/>
          </p:cNvSpPr>
          <p:nvPr/>
        </p:nvSpPr>
        <p:spPr>
          <a:xfrm>
            <a:off x="9410700" y="2762250"/>
            <a:ext cx="21526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Higher warning or critical thresholds classify more events; lower thresholds make the event list stricter.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E38745-E9A9-4F57-A158-6E170461A4D2}"/>
              </a:ext>
            </a:extLst>
          </p:cNvPr>
          <p:cNvSpPr>
            <a:spLocks noGrp="1"/>
          </p:cNvSpPr>
          <p:nvPr/>
        </p:nvSpPr>
        <p:spPr>
          <a:xfrm>
            <a:off x="876300" y="430530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>
                <a:solidFill>
                  <a:srgbClr val="000000"/>
                </a:solidFill>
              </a:defRPr>
            </a:pPr>
            <a:r>
              <a:rPr sz="1725">
                <a:solidFill>
                  <a:srgbClr val="000000"/>
                </a:solidFill>
              </a:rPr>
              <a:t>Duration controls how long the simulation runs. Seed controls the random trip pattern. Step length controls simulation resolution and runtime.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57C512-C56C-4789-B85F-8A9CA4506C01}"/>
              </a:ext>
            </a:extLst>
          </p:cNvPr>
          <p:cNvSpPr>
            <a:spLocks noGrp="1"/>
          </p:cNvSpPr>
          <p:nvPr/>
        </p:nvSpPr>
        <p:spPr>
          <a:xfrm>
            <a:off x="409575" y="5219700"/>
            <a:ext cx="11382375" cy="6858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38DCE0-E3EC-436E-98D4-23B84E0C68A3}"/>
              </a:ext>
            </a:extLst>
          </p:cNvPr>
          <p:cNvSpPr>
            <a:spLocks noGrp="1"/>
          </p:cNvSpPr>
          <p:nvPr/>
        </p:nvSpPr>
        <p:spPr>
          <a:xfrm>
            <a:off x="781050" y="541020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Read parameter experiments as controlled what-if tests, not real-world safety forecasts.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80BBC8-1BD4-4EC5-B821-00A4EECB19A5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Local SUMO data: Data/Nanke/project/High precision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DCAB9E3-F1A5-49EE-A6B4-62858F6B3DA7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47489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7F0559F-A431-414B-B376-A385BF966F20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68580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TTC helps locate close calls, but it is still a surrogate measure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BA7973-DBC0-4CB1-AC05-F33DE407810C}"/>
              </a:ext>
            </a:extLst>
          </p:cNvPr>
          <p:cNvSpPr>
            <a:spLocks noGrp="1"/>
          </p:cNvSpPr>
          <p:nvPr/>
        </p:nvSpPr>
        <p:spPr>
          <a:xfrm>
            <a:off x="7810500" y="476250"/>
            <a:ext cx="39814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The safety layer is a screening tool for visual analysis, not an operational road-safety judgement.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9D05D4-5DAA-4C05-BBEE-17C17A3FF140}"/>
              </a:ext>
            </a:extLst>
          </p:cNvPr>
          <p:cNvSpPr>
            <a:spLocks noGrp="1"/>
          </p:cNvSpPr>
          <p:nvPr/>
        </p:nvSpPr>
        <p:spPr>
          <a:xfrm>
            <a:off x="409575" y="2209800"/>
            <a:ext cx="3476625" cy="14668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239259-516F-4776-805A-41FE257DCDA8}"/>
              </a:ext>
            </a:extLst>
          </p:cNvPr>
          <p:cNvSpPr>
            <a:spLocks noGrp="1"/>
          </p:cNvSpPr>
          <p:nvPr/>
        </p:nvSpPr>
        <p:spPr>
          <a:xfrm>
            <a:off x="676275" y="2457450"/>
            <a:ext cx="29432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TTC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74E9F3-3134-42E6-BC79-A81090761B43}"/>
              </a:ext>
            </a:extLst>
          </p:cNvPr>
          <p:cNvSpPr>
            <a:spLocks noGrp="1"/>
          </p:cNvSpPr>
          <p:nvPr/>
        </p:nvSpPr>
        <p:spPr>
          <a:xfrm>
            <a:off x="676275" y="2895600"/>
            <a:ext cx="29432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Time-to-collision estimates how soon two vehicles would conflict if current motion continued.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99D720-AF43-42BE-8471-5D8DAB3FFF99}"/>
              </a:ext>
            </a:extLst>
          </p:cNvPr>
          <p:cNvSpPr>
            <a:spLocks noGrp="1"/>
          </p:cNvSpPr>
          <p:nvPr/>
        </p:nvSpPr>
        <p:spPr>
          <a:xfrm>
            <a:off x="4362450" y="2209800"/>
            <a:ext cx="3476625" cy="14668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A3C357-0685-4494-9762-92C2ED9AA448}"/>
              </a:ext>
            </a:extLst>
          </p:cNvPr>
          <p:cNvSpPr>
            <a:spLocks noGrp="1"/>
          </p:cNvSpPr>
          <p:nvPr/>
        </p:nvSpPr>
        <p:spPr>
          <a:xfrm>
            <a:off x="4629150" y="2457450"/>
            <a:ext cx="29432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DRAC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3736BC-E919-4459-B018-9B2F130E055F}"/>
              </a:ext>
            </a:extLst>
          </p:cNvPr>
          <p:cNvSpPr>
            <a:spLocks noGrp="1"/>
          </p:cNvSpPr>
          <p:nvPr/>
        </p:nvSpPr>
        <p:spPr>
          <a:xfrm>
            <a:off x="4629150" y="2895600"/>
            <a:ext cx="29432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Deceleration rate to avoid crash can add severity context when the output is available.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A02AFD-E090-4738-857D-6C377B7D78C4}"/>
              </a:ext>
            </a:extLst>
          </p:cNvPr>
          <p:cNvSpPr>
            <a:spLocks noGrp="1"/>
          </p:cNvSpPr>
          <p:nvPr/>
        </p:nvSpPr>
        <p:spPr>
          <a:xfrm>
            <a:off x="8315325" y="2209800"/>
            <a:ext cx="3476625" cy="14668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B494A0-966D-486F-B561-F09FA50EBCF6}"/>
              </a:ext>
            </a:extLst>
          </p:cNvPr>
          <p:cNvSpPr>
            <a:spLocks noGrp="1"/>
          </p:cNvSpPr>
          <p:nvPr/>
        </p:nvSpPr>
        <p:spPr>
          <a:xfrm>
            <a:off x="8582025" y="2457450"/>
            <a:ext cx="29432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Braking events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A0DCB8-34DC-45B7-9790-7B9B8AE445F7}"/>
              </a:ext>
            </a:extLst>
          </p:cNvPr>
          <p:cNvSpPr>
            <a:spLocks noGrp="1"/>
          </p:cNvSpPr>
          <p:nvPr/>
        </p:nvSpPr>
        <p:spPr>
          <a:xfrm>
            <a:off x="8582025" y="2895600"/>
            <a:ext cx="29432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Hard braking is derived from trajectory acceleration and shown as another inspection cue.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7E1481-0BA5-4544-9109-236BC05D5E9E}"/>
              </a:ext>
            </a:extLst>
          </p:cNvPr>
          <p:cNvSpPr>
            <a:spLocks noGrp="1"/>
          </p:cNvSpPr>
          <p:nvPr/>
        </p:nvSpPr>
        <p:spPr>
          <a:xfrm>
            <a:off x="409575" y="4438650"/>
            <a:ext cx="11382375" cy="11430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861718-474C-4ED3-9539-132FB5D3E185}"/>
              </a:ext>
            </a:extLst>
          </p:cNvPr>
          <p:cNvSpPr>
            <a:spLocks noGrp="1"/>
          </p:cNvSpPr>
          <p:nvPr/>
        </p:nvSpPr>
        <p:spPr>
          <a:xfrm>
            <a:off x="704850" y="46863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Interpretation boundary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3CB460-FE0A-4739-8574-2A724B6BB482}"/>
              </a:ext>
            </a:extLst>
          </p:cNvPr>
          <p:cNvSpPr>
            <a:spLocks noGrp="1"/>
          </p:cNvSpPr>
          <p:nvPr/>
        </p:nvSpPr>
        <p:spPr>
          <a:xfrm>
            <a:off x="4095750" y="4629150"/>
            <a:ext cx="723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>OSM network properties may be inferred, demand is synthetic, driver behavior is simulated, and TTC thresholds are analysis choices.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0C0817-86B8-46BB-B0A9-8C875AEB2853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Local SUMO data: Data/Nanke/project/High precision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DEFE8F-98B7-48B5-BD69-43844DCD9515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82799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344582A-7358-4042-84B5-229D13E392EC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68580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Future work can make the prototype a richer urban-environment twin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6155D3-7D07-476C-B59A-DC2DEFAF2199}"/>
              </a:ext>
            </a:extLst>
          </p:cNvPr>
          <p:cNvSpPr>
            <a:spLocks noGrp="1"/>
          </p:cNvSpPr>
          <p:nvPr/>
        </p:nvSpPr>
        <p:spPr>
          <a:xfrm>
            <a:off x="7810500" y="476250"/>
            <a:ext cx="39814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The next step is to add visual context and environmental indicators while keeping the safety limitations clear.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9A83FD-777F-45CB-ACB0-CD51F6E60357}"/>
              </a:ext>
            </a:extLst>
          </p:cNvPr>
          <p:cNvSpPr>
            <a:spLocks noGrp="1"/>
          </p:cNvSpPr>
          <p:nvPr/>
        </p:nvSpPr>
        <p:spPr>
          <a:xfrm>
            <a:off x="409575" y="2038350"/>
            <a:ext cx="2571750" cy="18859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2673ED-6824-4380-864D-5ED0F9EF1D9E}"/>
              </a:ext>
            </a:extLst>
          </p:cNvPr>
          <p:cNvSpPr>
            <a:spLocks noGrp="1"/>
          </p:cNvSpPr>
          <p:nvPr/>
        </p:nvSpPr>
        <p:spPr>
          <a:xfrm>
            <a:off x="638175" y="2324100"/>
            <a:ext cx="2114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22BCD3"/>
                </a:solidFill>
              </a:defRPr>
            </a:pPr>
            <a:r>
              <a:rPr sz="1875" b="1">
                <a:solidFill>
                  <a:srgbClr val="22BCD3"/>
                </a:solidFill>
              </a:rPr>
              <a:t>Low-poly cars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1338BC-88EF-4753-9E08-C45A37916808}"/>
              </a:ext>
            </a:extLst>
          </p:cNvPr>
          <p:cNvSpPr>
            <a:spLocks noGrp="1"/>
          </p:cNvSpPr>
          <p:nvPr/>
        </p:nvSpPr>
        <p:spPr>
          <a:xfrm>
            <a:off x="638175" y="2838450"/>
            <a:ext cx="21145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Use lightweight 3D car models instead of simple markers, without hurting playback performance.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6BEB65-A94F-443D-B46D-409DD264822F}"/>
              </a:ext>
            </a:extLst>
          </p:cNvPr>
          <p:cNvSpPr>
            <a:spLocks noGrp="1"/>
          </p:cNvSpPr>
          <p:nvPr/>
        </p:nvSpPr>
        <p:spPr>
          <a:xfrm>
            <a:off x="3333750" y="2038350"/>
            <a:ext cx="2571750" cy="18859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B3940C-A95F-49C8-B6D0-AAD09CB9BC43}"/>
              </a:ext>
            </a:extLst>
          </p:cNvPr>
          <p:cNvSpPr>
            <a:spLocks noGrp="1"/>
          </p:cNvSpPr>
          <p:nvPr/>
        </p:nvSpPr>
        <p:spPr>
          <a:xfrm>
            <a:off x="3562350" y="2324100"/>
            <a:ext cx="2114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Buildings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5BB1AA-A46C-48E2-AE58-2A979ECE0D4B}"/>
              </a:ext>
            </a:extLst>
          </p:cNvPr>
          <p:cNvSpPr>
            <a:spLocks noGrp="1"/>
          </p:cNvSpPr>
          <p:nvPr/>
        </p:nvSpPr>
        <p:spPr>
          <a:xfrm>
            <a:off x="3562350" y="2838450"/>
            <a:ext cx="21145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Add building footprints or extruded 3D buildings to review events in urban context.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10988E-B99E-4E3C-AD7D-FF9F1C4E69D3}"/>
              </a:ext>
            </a:extLst>
          </p:cNvPr>
          <p:cNvSpPr>
            <a:spLocks noGrp="1"/>
          </p:cNvSpPr>
          <p:nvPr/>
        </p:nvSpPr>
        <p:spPr>
          <a:xfrm>
            <a:off x="6257925" y="2038350"/>
            <a:ext cx="2571750" cy="18859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C34D6E-148F-46EE-B7CF-8D468A6BF509}"/>
              </a:ext>
            </a:extLst>
          </p:cNvPr>
          <p:cNvSpPr>
            <a:spLocks noGrp="1"/>
          </p:cNvSpPr>
          <p:nvPr/>
        </p:nvSpPr>
        <p:spPr>
          <a:xfrm>
            <a:off x="6486525" y="2324100"/>
            <a:ext cx="2114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Environment effects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E1496B-238F-435A-8914-1C51C0683379}"/>
              </a:ext>
            </a:extLst>
          </p:cNvPr>
          <p:cNvSpPr>
            <a:spLocks noGrp="1"/>
          </p:cNvSpPr>
          <p:nvPr/>
        </p:nvSpPr>
        <p:spPr>
          <a:xfrm>
            <a:off x="6486525" y="2838450"/>
            <a:ext cx="21145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Represent weather, lighting, visibility and road-surface assumptions as scenario inputs.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D326BC-45BB-41C8-801F-EB0A9BDC2308}"/>
              </a:ext>
            </a:extLst>
          </p:cNvPr>
          <p:cNvSpPr>
            <a:spLocks noGrp="1"/>
          </p:cNvSpPr>
          <p:nvPr/>
        </p:nvSpPr>
        <p:spPr>
          <a:xfrm>
            <a:off x="9182100" y="2038350"/>
            <a:ext cx="2609850" cy="18859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9CE12C-662A-49E4-8C7F-0EA2B3406A8B}"/>
              </a:ext>
            </a:extLst>
          </p:cNvPr>
          <p:cNvSpPr>
            <a:spLocks noGrp="1"/>
          </p:cNvSpPr>
          <p:nvPr/>
        </p:nvSpPr>
        <p:spPr>
          <a:xfrm>
            <a:off x="9410700" y="2324100"/>
            <a:ext cx="2152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FF5A4F"/>
                </a:solidFill>
              </a:defRPr>
            </a:pPr>
            <a:r>
              <a:rPr sz="1875" b="1">
                <a:solidFill>
                  <a:srgbClr val="FF5A4F"/>
                </a:solidFill>
              </a:rPr>
              <a:t>SUMO backend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242C72-52ED-469A-85B8-6FB0E18CE609}"/>
              </a:ext>
            </a:extLst>
          </p:cNvPr>
          <p:cNvSpPr>
            <a:spLocks noGrp="1"/>
          </p:cNvSpPr>
          <p:nvPr/>
        </p:nvSpPr>
        <p:spPr>
          <a:xfrm>
            <a:off x="9410700" y="2838450"/>
            <a:ext cx="21526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Add emissions, energy, noise and exposure indicators for environmental review.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7A3ECA-9F34-4696-B4D8-5BDC5F3607B0}"/>
              </a:ext>
            </a:extLst>
          </p:cNvPr>
          <p:cNvSpPr>
            <a:spLocks noGrp="1"/>
          </p:cNvSpPr>
          <p:nvPr/>
        </p:nvSpPr>
        <p:spPr>
          <a:xfrm>
            <a:off x="952500" y="4343400"/>
            <a:ext cx="10287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>
                <a:solidFill>
                  <a:srgbClr val="000000"/>
                </a:solidFill>
              </a:defRPr>
            </a:pPr>
            <a:r>
              <a:rPr sz="1725">
                <a:solidFill>
                  <a:srgbClr val="000000"/>
                </a:solidFill>
              </a:rPr>
              <a:t>The visual upgrades make the replay easier to understand. The backend upgrades make each scenario more useful for comparing safety and environmental trade-offs.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BCEEDF-3021-402C-93E0-31A67E83945A}"/>
              </a:ext>
            </a:extLst>
          </p:cNvPr>
          <p:cNvSpPr>
            <a:spLocks noGrp="1"/>
          </p:cNvSpPr>
          <p:nvPr/>
        </p:nvSpPr>
        <p:spPr>
          <a:xfrm>
            <a:off x="409575" y="5219700"/>
            <a:ext cx="11382375" cy="6858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D89C6F5-47AF-40C5-A19A-C0AAE22C8B45}"/>
              </a:ext>
            </a:extLst>
          </p:cNvPr>
          <p:cNvSpPr>
            <a:spLocks noGrp="1"/>
          </p:cNvSpPr>
          <p:nvPr/>
        </p:nvSpPr>
        <p:spPr>
          <a:xfrm>
            <a:off x="685800" y="5410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These additions improve interpretation, but the model still needs validation before operational use.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30E534-0315-4A2A-BA41-D5EC6BF66866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Local SUMO data: Data/Nanke/project/High precision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F4174F6-ECEC-4FA9-8968-B6B3B83CCC09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1887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667D0243-73D0-4FB0-9AB2-F7DC4AF29C59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68580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ODD theory becomes useful when it is converted into scenario controls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0092C4-6450-4358-891C-0A3F27738A60}"/>
              </a:ext>
            </a:extLst>
          </p:cNvPr>
          <p:cNvSpPr>
            <a:spLocks noGrp="1"/>
          </p:cNvSpPr>
          <p:nvPr/>
        </p:nvSpPr>
        <p:spPr>
          <a:xfrm>
            <a:off x="7810500" y="476250"/>
            <a:ext cx="39814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The ODD paper frames risk through road environment, traffic context, road users, behavior models and scenario demand.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618562-2709-48CE-BB55-78BFBE9533FC}"/>
              </a:ext>
            </a:extLst>
          </p:cNvPr>
          <p:cNvSpPr>
            <a:spLocks noGrp="1"/>
          </p:cNvSpPr>
          <p:nvPr/>
        </p:nvSpPr>
        <p:spPr>
          <a:xfrm>
            <a:off x="409575" y="1752600"/>
            <a:ext cx="3000375" cy="400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60A434-A734-43ED-82C2-99D1B61FEFF5}"/>
              </a:ext>
            </a:extLst>
          </p:cNvPr>
          <p:cNvSpPr>
            <a:spLocks noGrp="1"/>
          </p:cNvSpPr>
          <p:nvPr/>
        </p:nvSpPr>
        <p:spPr>
          <a:xfrm>
            <a:off x="3562350" y="1752600"/>
            <a:ext cx="2524125" cy="400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8A9A43-16B7-4A88-B47E-89F92235E52D}"/>
              </a:ext>
            </a:extLst>
          </p:cNvPr>
          <p:cNvSpPr>
            <a:spLocks noGrp="1"/>
          </p:cNvSpPr>
          <p:nvPr/>
        </p:nvSpPr>
        <p:spPr>
          <a:xfrm>
            <a:off x="6238875" y="1752600"/>
            <a:ext cx="5410200" cy="400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D08F80-3EDB-45EE-B56A-BE5C19B931C1}"/>
              </a:ext>
            </a:extLst>
          </p:cNvPr>
          <p:cNvSpPr>
            <a:spLocks noGrp="1"/>
          </p:cNvSpPr>
          <p:nvPr/>
        </p:nvSpPr>
        <p:spPr>
          <a:xfrm>
            <a:off x="561975" y="1857375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ODD / scenario basis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6ACA21-F11D-46F6-B58F-79F277A7D4BE}"/>
              </a:ext>
            </a:extLst>
          </p:cNvPr>
          <p:cNvSpPr>
            <a:spLocks noGrp="1"/>
          </p:cNvSpPr>
          <p:nvPr/>
        </p:nvSpPr>
        <p:spPr>
          <a:xfrm>
            <a:off x="3714750" y="1857375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Dashboard control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2E8151-3D46-4400-818E-062AA49040B6}"/>
              </a:ext>
            </a:extLst>
          </p:cNvPr>
          <p:cNvSpPr>
            <a:spLocks noGrp="1"/>
          </p:cNvSpPr>
          <p:nvPr/>
        </p:nvSpPr>
        <p:spPr>
          <a:xfrm>
            <a:off x="6391275" y="1857375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How it would be implemented in SUMO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76DA13-1DB7-48D5-8296-C545736AFC3C}"/>
              </a:ext>
            </a:extLst>
          </p:cNvPr>
          <p:cNvSpPr>
            <a:spLocks noGrp="1"/>
          </p:cNvSpPr>
          <p:nvPr/>
        </p:nvSpPr>
        <p:spPr>
          <a:xfrm>
            <a:off x="409575" y="2286000"/>
            <a:ext cx="3000375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41A7C1-217B-4469-8A69-8E92D46C54CC}"/>
              </a:ext>
            </a:extLst>
          </p:cNvPr>
          <p:cNvSpPr>
            <a:spLocks noGrp="1"/>
          </p:cNvSpPr>
          <p:nvPr/>
        </p:nvSpPr>
        <p:spPr>
          <a:xfrm>
            <a:off x="561975" y="2419350"/>
            <a:ext cx="26955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Road-environment limitation and situation demand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4A55A7-8234-428F-9519-A1F065149238}"/>
              </a:ext>
            </a:extLst>
          </p:cNvPr>
          <p:cNvSpPr>
            <a:spLocks noGrp="1"/>
          </p:cNvSpPr>
          <p:nvPr/>
        </p:nvSpPr>
        <p:spPr>
          <a:xfrm>
            <a:off x="3562350" y="2286000"/>
            <a:ext cx="2524125" cy="7620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517571-64FE-4565-BBC6-556BF1A9D199}"/>
              </a:ext>
            </a:extLst>
          </p:cNvPr>
          <p:cNvSpPr>
            <a:spLocks noGrp="1"/>
          </p:cNvSpPr>
          <p:nvPr/>
        </p:nvSpPr>
        <p:spPr>
          <a:xfrm>
            <a:off x="3714750" y="2419350"/>
            <a:ext cx="22193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22BCD3"/>
                </a:solidFill>
              </a:defRPr>
            </a:pPr>
            <a:r>
              <a:rPr sz="1575" b="1">
                <a:solidFill>
                  <a:srgbClr val="22BCD3"/>
                </a:solidFill>
              </a:rPr>
              <a:t>Traffic volume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0F031A-125F-4262-9A43-DDDE16E5065B}"/>
              </a:ext>
            </a:extLst>
          </p:cNvPr>
          <p:cNvSpPr>
            <a:spLocks noGrp="1"/>
          </p:cNvSpPr>
          <p:nvPr/>
        </p:nvSpPr>
        <p:spPr>
          <a:xfrm>
            <a:off x="6238875" y="2286000"/>
            <a:ext cx="54102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F18F85-B129-440F-9ECC-9AE671FE9E4D}"/>
              </a:ext>
            </a:extLst>
          </p:cNvPr>
          <p:cNvSpPr>
            <a:spLocks noGrp="1"/>
          </p:cNvSpPr>
          <p:nvPr/>
        </p:nvSpPr>
        <p:spPr>
          <a:xfrm>
            <a:off x="6391275" y="2419350"/>
            <a:ext cx="5105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Demand flows, departure rate, peak-period factor and route mix for low, medium and crowded conditions.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1BA894-AEC2-4091-AA95-AA494C75EA05}"/>
              </a:ext>
            </a:extLst>
          </p:cNvPr>
          <p:cNvSpPr>
            <a:spLocks noGrp="1"/>
          </p:cNvSpPr>
          <p:nvPr/>
        </p:nvSpPr>
        <p:spPr>
          <a:xfrm>
            <a:off x="409575" y="3143250"/>
            <a:ext cx="3000375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13DBDA-0F13-475B-8E50-7127E4CEC8B7}"/>
              </a:ext>
            </a:extLst>
          </p:cNvPr>
          <p:cNvSpPr>
            <a:spLocks noGrp="1"/>
          </p:cNvSpPr>
          <p:nvPr/>
        </p:nvSpPr>
        <p:spPr>
          <a:xfrm>
            <a:off x="561975" y="3276600"/>
            <a:ext cx="26955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Road structure, junctions and traffic-control devices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264DE7-70E8-4185-88BD-50B27DB38FC9}"/>
              </a:ext>
            </a:extLst>
          </p:cNvPr>
          <p:cNvSpPr>
            <a:spLocks noGrp="1"/>
          </p:cNvSpPr>
          <p:nvPr/>
        </p:nvSpPr>
        <p:spPr>
          <a:xfrm>
            <a:off x="3562350" y="3143250"/>
            <a:ext cx="2524125" cy="7620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632056-C9E4-46C1-BC3A-22850FFEB18D}"/>
              </a:ext>
            </a:extLst>
          </p:cNvPr>
          <p:cNvSpPr>
            <a:spLocks noGrp="1"/>
          </p:cNvSpPr>
          <p:nvPr/>
        </p:nvSpPr>
        <p:spPr>
          <a:xfrm>
            <a:off x="3714750" y="3276600"/>
            <a:ext cx="22193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F6B35"/>
                </a:solidFill>
              </a:defRPr>
            </a:pPr>
            <a:r>
              <a:rPr sz="1575" b="1">
                <a:solidFill>
                  <a:srgbClr val="FF6B35"/>
                </a:solidFill>
              </a:rPr>
              <a:t>Signal phase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24BE22-B8C1-48D9-9710-FC6636BB638E}"/>
              </a:ext>
            </a:extLst>
          </p:cNvPr>
          <p:cNvSpPr>
            <a:spLocks noGrp="1"/>
          </p:cNvSpPr>
          <p:nvPr/>
        </p:nvSpPr>
        <p:spPr>
          <a:xfrm>
            <a:off x="6238875" y="3143250"/>
            <a:ext cx="54102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D8FF40-0F47-48E0-9FC8-C620F1B1E321}"/>
              </a:ext>
            </a:extLst>
          </p:cNvPr>
          <p:cNvSpPr>
            <a:spLocks noGrp="1"/>
          </p:cNvSpPr>
          <p:nvPr/>
        </p:nvSpPr>
        <p:spPr>
          <a:xfrm>
            <a:off x="6391275" y="3276600"/>
            <a:ext cx="5105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Traffic-light programs, phase length, offsets and red-light timing for junction safety experiments.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7E049F-B851-41E0-AED2-153747E40839}"/>
              </a:ext>
            </a:extLst>
          </p:cNvPr>
          <p:cNvSpPr>
            <a:spLocks noGrp="1"/>
          </p:cNvSpPr>
          <p:nvPr/>
        </p:nvSpPr>
        <p:spPr>
          <a:xfrm>
            <a:off x="409575" y="4000500"/>
            <a:ext cx="3000375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738183-47A7-49F6-8787-0F806522C7AF}"/>
              </a:ext>
            </a:extLst>
          </p:cNvPr>
          <p:cNvSpPr>
            <a:spLocks noGrp="1"/>
          </p:cNvSpPr>
          <p:nvPr/>
        </p:nvSpPr>
        <p:spPr>
          <a:xfrm>
            <a:off x="561975" y="4133850"/>
            <a:ext cx="26955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Road users and behavior models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D1FE561-4658-45E6-AAFC-9641446D5B4E}"/>
              </a:ext>
            </a:extLst>
          </p:cNvPr>
          <p:cNvSpPr>
            <a:spLocks noGrp="1"/>
          </p:cNvSpPr>
          <p:nvPr/>
        </p:nvSpPr>
        <p:spPr>
          <a:xfrm>
            <a:off x="3562350" y="4000500"/>
            <a:ext cx="2524125" cy="7620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188998E-5124-4990-9BDD-D5AE0090FA66}"/>
              </a:ext>
            </a:extLst>
          </p:cNvPr>
          <p:cNvSpPr>
            <a:spLocks noGrp="1"/>
          </p:cNvSpPr>
          <p:nvPr/>
        </p:nvSpPr>
        <p:spPr>
          <a:xfrm>
            <a:off x="3714750" y="4133850"/>
            <a:ext cx="22193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Motorcycle behavior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17DE6F-10EE-4020-88C9-C8A562D4ADC2}"/>
              </a:ext>
            </a:extLst>
          </p:cNvPr>
          <p:cNvSpPr>
            <a:spLocks noGrp="1"/>
          </p:cNvSpPr>
          <p:nvPr/>
        </p:nvSpPr>
        <p:spPr>
          <a:xfrm>
            <a:off x="6238875" y="4000500"/>
            <a:ext cx="54102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E034E7-7A96-4E6F-9CF2-E255E956C0E0}"/>
              </a:ext>
            </a:extLst>
          </p:cNvPr>
          <p:cNvSpPr>
            <a:spLocks noGrp="1"/>
          </p:cNvSpPr>
          <p:nvPr/>
        </p:nvSpPr>
        <p:spPr>
          <a:xfrm>
            <a:off x="6391275" y="4133850"/>
            <a:ext cx="5105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Motorcycle vehicle type, lateral movement, lane filtering, following gap and mixed-traffic interaction rules.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356D454-9659-45A8-844B-6CC67EDF5A08}"/>
              </a:ext>
            </a:extLst>
          </p:cNvPr>
          <p:cNvSpPr>
            <a:spLocks noGrp="1"/>
          </p:cNvSpPr>
          <p:nvPr/>
        </p:nvSpPr>
        <p:spPr>
          <a:xfrm>
            <a:off x="409575" y="4857750"/>
            <a:ext cx="3000375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06CCA15-9352-49DB-8FEF-57744F14DD0A}"/>
              </a:ext>
            </a:extLst>
          </p:cNvPr>
          <p:cNvSpPr>
            <a:spLocks noGrp="1"/>
          </p:cNvSpPr>
          <p:nvPr/>
        </p:nvSpPr>
        <p:spPr>
          <a:xfrm>
            <a:off x="561975" y="4991100"/>
            <a:ext cx="26955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Scenario demand and behavior-assumption stressors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F00BF7-6315-4050-B325-A1223576AF11}"/>
              </a:ext>
            </a:extLst>
          </p:cNvPr>
          <p:cNvSpPr>
            <a:spLocks noGrp="1"/>
          </p:cNvSpPr>
          <p:nvPr/>
        </p:nvSpPr>
        <p:spPr>
          <a:xfrm>
            <a:off x="3562350" y="4857750"/>
            <a:ext cx="2524125" cy="7620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62D0B19-4AF4-42CC-B536-5E32D3204AAC}"/>
              </a:ext>
            </a:extLst>
          </p:cNvPr>
          <p:cNvSpPr>
            <a:spLocks noGrp="1"/>
          </p:cNvSpPr>
          <p:nvPr/>
        </p:nvSpPr>
        <p:spPr>
          <a:xfrm>
            <a:off x="3714750" y="4991100"/>
            <a:ext cx="22193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F5A4F"/>
                </a:solidFill>
              </a:defRPr>
            </a:pPr>
            <a:r>
              <a:rPr sz="1575" b="1">
                <a:solidFill>
                  <a:srgbClr val="FF5A4F"/>
                </a:solidFill>
              </a:rPr>
              <a:t>Driving error rate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01BBFD3-023F-4228-864C-75FA03703053}"/>
              </a:ext>
            </a:extLst>
          </p:cNvPr>
          <p:cNvSpPr>
            <a:spLocks noGrp="1"/>
          </p:cNvSpPr>
          <p:nvPr/>
        </p:nvSpPr>
        <p:spPr>
          <a:xfrm>
            <a:off x="6238875" y="4857750"/>
            <a:ext cx="54102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8AF8F3D-6072-4971-858C-D6AEE34E7AFF}"/>
              </a:ext>
            </a:extLst>
          </p:cNvPr>
          <p:cNvSpPr>
            <a:spLocks noGrp="1"/>
          </p:cNvSpPr>
          <p:nvPr/>
        </p:nvSpPr>
        <p:spPr>
          <a:xfrm>
            <a:off x="6391275" y="4991100"/>
            <a:ext cx="5105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Controlled probability of reaction mistakes, gap-judgement errors, red-light violations or risky maneuvers.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EEA5250-7200-4914-80C8-E1EEC211052A}"/>
              </a:ext>
            </a:extLst>
          </p:cNvPr>
          <p:cNvSpPr>
            <a:spLocks noGrp="1"/>
          </p:cNvSpPr>
          <p:nvPr/>
        </p:nvSpPr>
        <p:spPr>
          <a:xfrm>
            <a:off x="409575" y="5829300"/>
            <a:ext cx="1123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Paper basis: Czarnecki, Operational Design Domain for Automated Driving Systems: Taxonomy of Basic Terms, 2018; NHTSA ADS testable scenarios framework, 2018.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3BD9568-4353-4269-88E5-DB1ED4E0A326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Local SUMO data: Data/Nanke/project/High precision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EDC9859-A8A7-44BC-91C8-181B0AAFE417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470288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1651</Words>
  <Application>Microsoft Office PowerPoint</Application>
  <DocSecurity>0</DocSecurity>
  <PresentationFormat>Widescreen</PresentationFormat>
  <Paragraphs>211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febrian fitryanik susanta</cp:lastModifiedBy>
  <cp:revision>1</cp:revision>
  <dcterms:created xsi:type="dcterms:W3CDTF">2026-07-22T15:17:27Z</dcterms:created>
  <dcterms:modified xsi:type="dcterms:W3CDTF">2026-07-24T06:55:17Z</dcterms:modified>
</cp:coreProperties>
</file>